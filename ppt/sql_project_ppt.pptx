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9"/>
  </p:notesMasterIdLst>
  <p:sldIdLst>
    <p:sldId id="256" r:id="rId2"/>
    <p:sldId id="257" r:id="rId3"/>
    <p:sldId id="260" r:id="rId4"/>
    <p:sldId id="284" r:id="rId5"/>
    <p:sldId id="261" r:id="rId6"/>
    <p:sldId id="262" r:id="rId7"/>
    <p:sldId id="263" r:id="rId8"/>
    <p:sldId id="264" r:id="rId9"/>
    <p:sldId id="265" r:id="rId10"/>
    <p:sldId id="266"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3" r:id="rId26"/>
    <p:sldId id="285" r:id="rId27"/>
    <p:sldId id="259" r:id="rId28"/>
  </p:sldIdLst>
  <p:sldSz cx="12192000" cy="6858000"/>
  <p:notesSz cx="6858000" cy="9144000"/>
  <p:embeddedFontLst>
    <p:embeddedFont>
      <p:font typeface="Arial Narrow" panose="020B0606020202030204" pitchFamily="34" charset="0"/>
      <p:regular r:id="rId30"/>
      <p:bold r:id="rId31"/>
      <p:italic r:id="rId32"/>
      <p:boldItalic r:id="rId33"/>
    </p:embeddedFont>
    <p:embeddedFont>
      <p:font typeface="Lato Black" panose="020F0502020204030203" pitchFamily="34" charset="0"/>
      <p:bold r:id="rId34"/>
      <p:boldItalic r:id="rId35"/>
    </p:embeddedFont>
    <p:embeddedFont>
      <p:font typeface="Libre Baskerville" panose="02000000000000000000" pitchFamily="2"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81EA5AFA-7804-4E48-8601-008AF261D67E}">
          <p14:sldIdLst>
            <p14:sldId id="256"/>
            <p14:sldId id="257"/>
            <p14:sldId id="260"/>
            <p14:sldId id="284"/>
          </p14:sldIdLst>
        </p14:section>
        <p14:section name="Untitled Section" id="{95BD2545-0BA8-4539-92E6-FC1165C28B36}">
          <p14:sldIdLst>
            <p14:sldId id="261"/>
            <p14:sldId id="262"/>
            <p14:sldId id="263"/>
            <p14:sldId id="264"/>
            <p14:sldId id="265"/>
            <p14:sldId id="266"/>
            <p14:sldId id="268"/>
            <p14:sldId id="269"/>
            <p14:sldId id="270"/>
            <p14:sldId id="271"/>
            <p14:sldId id="272"/>
            <p14:sldId id="273"/>
            <p14:sldId id="274"/>
            <p14:sldId id="275"/>
            <p14:sldId id="276"/>
            <p14:sldId id="277"/>
            <p14:sldId id="278"/>
            <p14:sldId id="279"/>
            <p14:sldId id="280"/>
            <p14:sldId id="281"/>
            <p14:sldId id="283"/>
            <p14:sldId id="285"/>
            <p14:sldId id="259"/>
          </p14:sldIdLst>
        </p14:section>
      </p14:sectionLst>
    </p:ex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2"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42"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25</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856025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0"/>
            <a:ext cx="12190815" cy="6694098"/>
          </a:xfrm>
          <a:prstGeom prst="rect">
            <a:avLst/>
          </a:prstGeom>
          <a:noFill/>
          <a:ln>
            <a:noFill/>
          </a:ln>
        </p:spPr>
      </p:pic>
      <p:sp>
        <p:nvSpPr>
          <p:cNvPr id="99" name="Google Shape;99;p1"/>
          <p:cNvSpPr txBox="1"/>
          <p:nvPr/>
        </p:nvSpPr>
        <p:spPr>
          <a:xfrm>
            <a:off x="2610556" y="3708153"/>
            <a:ext cx="7246189" cy="984845"/>
          </a:xfrm>
          <a:prstGeom prst="rect">
            <a:avLst/>
          </a:prstGeom>
          <a:noFill/>
          <a:ln>
            <a:noFill/>
          </a:ln>
        </p:spPr>
        <p:txBody>
          <a:bodyPr spcFirstLastPara="1" wrap="square" lIns="91425" tIns="45700" rIns="91425" bIns="45700" anchor="t" anchorCtr="0">
            <a:spAutoFit/>
          </a:bodyPr>
          <a:lstStyle/>
          <a:p>
            <a:pPr lvl="0" algn="ctr">
              <a:buSzPts val="1800"/>
            </a:pPr>
            <a:br>
              <a:rPr lang="en-IN" sz="1800" b="0" i="0" u="none" strike="noStrike" cap="none" dirty="0">
                <a:solidFill>
                  <a:schemeClr val="dk1"/>
                </a:solidFill>
                <a:latin typeface="Calibri"/>
                <a:ea typeface="Calibri"/>
                <a:cs typeface="Calibri"/>
                <a:sym typeface="Calibri"/>
              </a:rPr>
            </a:br>
            <a:r>
              <a:rPr lang="en-IN" sz="4000" b="1" dirty="0">
                <a:solidFill>
                  <a:srgbClr val="002060"/>
                </a:solidFill>
                <a:latin typeface="Arial Narrow" panose="020B0606020202030204" pitchFamily="34" charset="0"/>
              </a:rPr>
              <a:t>Employee Management System</a:t>
            </a:r>
            <a:endParaRPr sz="4000" b="0" i="0" u="none" strike="noStrike" cap="none" dirty="0">
              <a:solidFill>
                <a:srgbClr val="002060"/>
              </a:solidFill>
              <a:latin typeface="Arial Narrow" panose="020B0606020202030204" pitchFamily="34" charset="0"/>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727979" y="1780952"/>
            <a:ext cx="10982240" cy="4247276"/>
          </a:xfrm>
          <a:prstGeom prst="rect">
            <a:avLst/>
          </a:prstGeom>
          <a:noFill/>
          <a:ln>
            <a:noFill/>
          </a:ln>
        </p:spPr>
        <p:txBody>
          <a:bodyPr spcFirstLastPara="1" wrap="square" lIns="91425" tIns="45700" rIns="91425" bIns="45700" anchor="t" anchorCtr="0">
            <a:spAutoFit/>
          </a:bodyPr>
          <a:lstStyle/>
          <a:p>
            <a:pPr marL="285750" marR="0" lvl="0" indent="-323850" algn="l" rtl="0">
              <a:lnSpc>
                <a:spcPct val="150000"/>
              </a:lnSpc>
              <a:spcBef>
                <a:spcPts val="0"/>
              </a:spcBef>
              <a:spcAft>
                <a:spcPts val="0"/>
              </a:spcAft>
              <a:buClr>
                <a:schemeClr val="dk1"/>
              </a:buClr>
              <a:buSzPts val="2400"/>
              <a:buFont typeface="Arial"/>
              <a:buChar char="•"/>
            </a:pPr>
            <a:r>
              <a:rPr lang="en-IN" sz="1800" b="1" i="0" u="none" strike="noStrike" cap="none" dirty="0">
                <a:solidFill>
                  <a:schemeClr val="dk1"/>
                </a:solidFill>
                <a:latin typeface="Calibri"/>
                <a:ea typeface="Calibri"/>
                <a:cs typeface="Calibri"/>
                <a:sym typeface="Calibri"/>
              </a:rPr>
              <a:t>Background? </a:t>
            </a:r>
          </a:p>
          <a:p>
            <a:pPr marR="0" lvl="0" algn="l" rtl="0">
              <a:lnSpc>
                <a:spcPct val="150000"/>
              </a:lnSpc>
              <a:spcBef>
                <a:spcPts val="0"/>
              </a:spcBef>
              <a:spcAft>
                <a:spcPts val="0"/>
              </a:spcAft>
              <a:buClr>
                <a:schemeClr val="dk1"/>
              </a:buClr>
              <a:buSzPts val="2400"/>
            </a:pPr>
            <a:r>
              <a:rPr lang="en-IN" sz="1800" b="1" dirty="0">
                <a:solidFill>
                  <a:schemeClr val="dk1"/>
                </a:solidFill>
                <a:latin typeface="Calibri"/>
                <a:ea typeface="Calibri"/>
                <a:cs typeface="Calibri"/>
                <a:sym typeface="Calibri"/>
              </a:rPr>
              <a:t>          </a:t>
            </a:r>
            <a:r>
              <a:rPr lang="en-IN" sz="1800" dirty="0">
                <a:solidFill>
                  <a:schemeClr val="dk1"/>
                </a:solidFill>
                <a:latin typeface="Calibri"/>
                <a:ea typeface="Calibri"/>
                <a:cs typeface="Calibri"/>
                <a:sym typeface="Calibri"/>
              </a:rPr>
              <a:t>B Tech (computer science engineering)</a:t>
            </a:r>
          </a:p>
          <a:p>
            <a:pPr marL="342900" marR="0" lvl="0" indent="-342900" algn="l" rtl="0">
              <a:lnSpc>
                <a:spcPct val="150000"/>
              </a:lnSpc>
              <a:spcBef>
                <a:spcPts val="0"/>
              </a:spcBef>
              <a:spcAft>
                <a:spcPts val="0"/>
              </a:spcAft>
              <a:buClr>
                <a:schemeClr val="dk1"/>
              </a:buClr>
              <a:buSzPts val="2400"/>
              <a:buFont typeface="Arial" panose="020B0604020202020204" pitchFamily="34" charset="0"/>
              <a:buChar char="•"/>
            </a:pPr>
            <a:r>
              <a:rPr lang="en-IN" sz="1800" b="1" dirty="0">
                <a:solidFill>
                  <a:schemeClr val="dk1"/>
                </a:solidFill>
                <a:latin typeface="Calibri"/>
                <a:ea typeface="Calibri"/>
                <a:cs typeface="Calibri"/>
                <a:sym typeface="Calibri"/>
              </a:rPr>
              <a:t> </a:t>
            </a:r>
            <a:r>
              <a:rPr lang="en-IN" sz="1800" b="1" i="0" u="none" strike="noStrike" cap="none" dirty="0">
                <a:solidFill>
                  <a:schemeClr val="dk1"/>
                </a:solidFill>
                <a:latin typeface="Calibri"/>
                <a:ea typeface="Calibri"/>
                <a:cs typeface="Calibri"/>
                <a:sym typeface="Calibri"/>
              </a:rPr>
              <a:t>Why you want to learn Data Science</a:t>
            </a:r>
            <a:endParaRPr lang="en-IN" sz="1800" b="1" dirty="0">
              <a:solidFill>
                <a:schemeClr val="dk1"/>
              </a:solidFill>
              <a:latin typeface="Calibri"/>
              <a:ea typeface="Calibri"/>
              <a:cs typeface="Calibri"/>
              <a:sym typeface="Calibri"/>
            </a:endParaRPr>
          </a:p>
          <a:p>
            <a:pPr marR="0" lvl="0" algn="l" rtl="0">
              <a:lnSpc>
                <a:spcPct val="150000"/>
              </a:lnSpc>
              <a:spcBef>
                <a:spcPts val="0"/>
              </a:spcBef>
              <a:spcAft>
                <a:spcPts val="0"/>
              </a:spcAft>
              <a:buClr>
                <a:schemeClr val="dk1"/>
              </a:buClr>
              <a:buSzPts val="2400"/>
            </a:pPr>
            <a:r>
              <a:rPr lang="en-US" sz="1800" dirty="0"/>
              <a:t>           -&gt; I want to learn Data Science to understand data and find useful information from it.</a:t>
            </a:r>
            <a:br>
              <a:rPr lang="en-US" sz="1800" dirty="0"/>
            </a:br>
            <a:r>
              <a:rPr lang="en-US" sz="1800" dirty="0"/>
              <a:t>           -&gt;It helps me solve real-world problems in a better way.</a:t>
            </a:r>
            <a:br>
              <a:rPr lang="en-US" sz="1800" dirty="0"/>
            </a:br>
            <a:r>
              <a:rPr lang="en-US" sz="1800" dirty="0"/>
              <a:t>           -&gt; I also want to build a good career in the IT field.</a:t>
            </a:r>
            <a:r>
              <a:rPr lang="en-IN" sz="1800" b="1" dirty="0">
                <a:solidFill>
                  <a:schemeClr val="dk1"/>
                </a:solidFill>
                <a:latin typeface="Calibri"/>
                <a:ea typeface="Calibri"/>
                <a:cs typeface="Calibri"/>
                <a:sym typeface="Calibri"/>
              </a:rPr>
              <a:t>      </a:t>
            </a:r>
            <a:endParaRPr sz="1800" b="1" i="0" u="none" strike="noStrike" cap="none" dirty="0">
              <a:solidFill>
                <a:schemeClr val="dk1"/>
              </a:solidFill>
              <a:latin typeface="Calibri"/>
              <a:ea typeface="Calibri"/>
              <a:cs typeface="Calibri"/>
              <a:sym typeface="Calibri"/>
            </a:endParaRPr>
          </a:p>
          <a:p>
            <a:pPr marL="285750" marR="0" lvl="0" indent="-323850" algn="l" rtl="0">
              <a:lnSpc>
                <a:spcPct val="150000"/>
              </a:lnSpc>
              <a:spcBef>
                <a:spcPts val="0"/>
              </a:spcBef>
              <a:spcAft>
                <a:spcPts val="0"/>
              </a:spcAft>
              <a:buClr>
                <a:schemeClr val="dk1"/>
              </a:buClr>
              <a:buSzPts val="2400"/>
              <a:buFont typeface="Arial"/>
              <a:buChar char="•"/>
            </a:pPr>
            <a:r>
              <a:rPr lang="en-IN" sz="1800" b="1" i="0" u="none" strike="noStrike" cap="none" dirty="0">
                <a:solidFill>
                  <a:schemeClr val="dk1"/>
                </a:solidFill>
                <a:latin typeface="Calibri"/>
                <a:ea typeface="Calibri"/>
                <a:cs typeface="Calibri"/>
                <a:sym typeface="Calibri"/>
              </a:rPr>
              <a:t>Any work experience</a:t>
            </a:r>
          </a:p>
          <a:p>
            <a:pPr marR="0" lvl="0" algn="l" rtl="0">
              <a:lnSpc>
                <a:spcPct val="150000"/>
              </a:lnSpc>
              <a:spcBef>
                <a:spcPts val="0"/>
              </a:spcBef>
              <a:spcAft>
                <a:spcPts val="0"/>
              </a:spcAft>
              <a:buClr>
                <a:schemeClr val="dk1"/>
              </a:buClr>
              <a:buSzPts val="2400"/>
            </a:pPr>
            <a:r>
              <a:rPr lang="en-IN" sz="1800" b="1" dirty="0">
                <a:solidFill>
                  <a:schemeClr val="dk1"/>
                </a:solidFill>
                <a:latin typeface="Calibri"/>
                <a:ea typeface="Calibri"/>
                <a:cs typeface="Calibri"/>
                <a:sym typeface="Calibri"/>
              </a:rPr>
              <a:t>             </a:t>
            </a:r>
            <a:r>
              <a:rPr lang="en-IN" sz="1800" dirty="0">
                <a:solidFill>
                  <a:schemeClr val="dk1"/>
                </a:solidFill>
                <a:latin typeface="Calibri"/>
                <a:ea typeface="Calibri"/>
                <a:cs typeface="Calibri"/>
                <a:sym typeface="Calibri"/>
              </a:rPr>
              <a:t>No Experience</a:t>
            </a:r>
            <a:endParaRPr sz="1800" i="0" u="none" strike="noStrike" cap="none" dirty="0">
              <a:solidFill>
                <a:schemeClr val="dk1"/>
              </a:solidFill>
              <a:latin typeface="Calibri"/>
              <a:ea typeface="Calibri"/>
              <a:cs typeface="Calibri"/>
              <a:sym typeface="Calibri"/>
            </a:endParaRPr>
          </a:p>
          <a:p>
            <a:pPr marL="342900" marR="0" lvl="0" indent="-342900" algn="l" rtl="0">
              <a:lnSpc>
                <a:spcPct val="150000"/>
              </a:lnSpc>
              <a:spcBef>
                <a:spcPts val="0"/>
              </a:spcBef>
              <a:spcAft>
                <a:spcPts val="0"/>
              </a:spcAft>
              <a:buClr>
                <a:schemeClr val="dk1"/>
              </a:buClr>
              <a:buSzPts val="2400"/>
              <a:buFont typeface="Arial" panose="020B0604020202020204" pitchFamily="34" charset="0"/>
              <a:buChar char="•"/>
            </a:pPr>
            <a:r>
              <a:rPr lang="en-IN" sz="1800" b="1" i="0" u="none" strike="noStrike" cap="none" dirty="0">
                <a:solidFill>
                  <a:schemeClr val="dk1"/>
                </a:solidFill>
                <a:latin typeface="Calibri"/>
                <a:ea typeface="Calibri"/>
                <a:cs typeface="Calibri"/>
                <a:sym typeface="Calibri"/>
              </a:rPr>
              <a:t>Share your </a:t>
            </a:r>
            <a:r>
              <a:rPr lang="en-IN" sz="1800" b="1" dirty="0">
                <a:solidFill>
                  <a:schemeClr val="dk1"/>
                </a:solidFill>
                <a:latin typeface="Calibri"/>
                <a:ea typeface="Calibri"/>
                <a:cs typeface="Calibri"/>
                <a:sym typeface="Calibri"/>
              </a:rPr>
              <a:t>LinkedIn</a:t>
            </a:r>
            <a:r>
              <a:rPr lang="en-IN" sz="1800" b="1" i="0" u="none" strike="noStrike" cap="none" dirty="0">
                <a:solidFill>
                  <a:schemeClr val="dk1"/>
                </a:solidFill>
                <a:latin typeface="Calibri"/>
                <a:ea typeface="Calibri"/>
                <a:cs typeface="Calibri"/>
                <a:sym typeface="Calibri"/>
              </a:rPr>
              <a:t> and </a:t>
            </a:r>
            <a:r>
              <a:rPr lang="en-IN" sz="1800" b="1" dirty="0">
                <a:solidFill>
                  <a:schemeClr val="dk1"/>
                </a:solidFill>
                <a:latin typeface="Calibri"/>
                <a:ea typeface="Calibri"/>
                <a:cs typeface="Calibri"/>
                <a:sym typeface="Calibri"/>
              </a:rPr>
              <a:t>GitHub</a:t>
            </a:r>
            <a:r>
              <a:rPr lang="en-IN" sz="1800" b="1" i="0" u="none" strike="noStrike" cap="none" dirty="0">
                <a:solidFill>
                  <a:schemeClr val="dk1"/>
                </a:solidFill>
                <a:latin typeface="Calibri"/>
                <a:ea typeface="Calibri"/>
                <a:cs typeface="Calibri"/>
                <a:sym typeface="Calibri"/>
              </a:rPr>
              <a:t> profile </a:t>
            </a:r>
            <a:r>
              <a:rPr lang="en-IN" sz="1800" b="1" dirty="0">
                <a:solidFill>
                  <a:schemeClr val="dk1"/>
                </a:solidFill>
                <a:latin typeface="Calibri"/>
                <a:ea typeface="Calibri"/>
                <a:cs typeface="Calibri"/>
                <a:sym typeface="Calibri"/>
              </a:rPr>
              <a:t>URLs</a:t>
            </a:r>
          </a:p>
          <a:p>
            <a:pPr lvl="0">
              <a:lnSpc>
                <a:spcPct val="150000"/>
              </a:lnSpc>
              <a:buClr>
                <a:schemeClr val="dk1"/>
              </a:buClr>
              <a:buSzPts val="2400"/>
            </a:pPr>
            <a:r>
              <a:rPr lang="en-IN" sz="1800" b="1" i="0" u="none" strike="noStrike" cap="none" dirty="0">
                <a:solidFill>
                  <a:schemeClr val="dk1"/>
                </a:solidFill>
                <a:latin typeface="Calibri"/>
                <a:ea typeface="Calibri"/>
                <a:cs typeface="Calibri"/>
                <a:sym typeface="Calibri"/>
              </a:rPr>
              <a:t>             </a:t>
            </a:r>
            <a:r>
              <a:rPr lang="en-IN" sz="1800" i="0" u="none" strike="noStrike" cap="none" dirty="0" err="1">
                <a:solidFill>
                  <a:schemeClr val="dk1"/>
                </a:solidFill>
                <a:latin typeface="Calibri"/>
                <a:ea typeface="Calibri"/>
                <a:cs typeface="Calibri"/>
                <a:sym typeface="Calibri"/>
              </a:rPr>
              <a:t>Linkedin</a:t>
            </a:r>
            <a:r>
              <a:rPr lang="en-IN" sz="1800" i="0" u="none" strike="noStrike" cap="none" dirty="0">
                <a:solidFill>
                  <a:schemeClr val="dk1"/>
                </a:solidFill>
                <a:latin typeface="Calibri"/>
                <a:ea typeface="Calibri"/>
                <a:cs typeface="Calibri"/>
                <a:sym typeface="Calibri"/>
              </a:rPr>
              <a:t> link: </a:t>
            </a:r>
            <a:r>
              <a:rPr lang="en-IN" sz="1800" dirty="0"/>
              <a:t>www.linkedin.com/in/peddolla-harika</a:t>
            </a:r>
            <a:endParaRPr sz="1800" b="1" i="0" u="none" strike="noStrike" cap="none" dirty="0">
              <a:solidFill>
                <a:schemeClr val="dk1"/>
              </a:solidFill>
              <a:latin typeface="Calibri"/>
              <a:ea typeface="Calibri"/>
              <a:cs typeface="Calibri"/>
              <a:sym typeface="Calibri"/>
            </a:endParaRPr>
          </a:p>
        </p:txBody>
      </p:sp>
      <p:sp>
        <p:nvSpPr>
          <p:cNvPr id="105" name="Google Shape;105;p3"/>
          <p:cNvSpPr txBox="1"/>
          <p:nvPr/>
        </p:nvSpPr>
        <p:spPr>
          <a:xfrm>
            <a:off x="973786" y="280656"/>
            <a:ext cx="6099600" cy="1409576"/>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Lato Black"/>
                <a:ea typeface="Lato Black"/>
                <a:cs typeface="Lato Black"/>
                <a:sym typeface="Lato Black"/>
              </a:rPr>
              <a:t>About Me</a:t>
            </a:r>
          </a:p>
          <a:p>
            <a:pPr marL="0" marR="0" lvl="0" indent="0" algn="just" rtl="0">
              <a:lnSpc>
                <a:spcPct val="150000"/>
              </a:lnSpc>
              <a:spcBef>
                <a:spcPts val="0"/>
              </a:spcBef>
              <a:spcAft>
                <a:spcPts val="0"/>
              </a:spcAft>
              <a:buClr>
                <a:srgbClr val="FF0000"/>
              </a:buClr>
              <a:buSzPts val="3200"/>
              <a:buFont typeface="Lato Black"/>
              <a:buNone/>
            </a:pPr>
            <a:r>
              <a:rPr lang="en-IN" sz="2000" dirty="0">
                <a:solidFill>
                  <a:schemeClr val="tx1"/>
                </a:solidFill>
                <a:latin typeface="Lato Black"/>
                <a:ea typeface="Calibri"/>
                <a:cs typeface="Calibri"/>
                <a:sym typeface="Lato Black"/>
              </a:rPr>
              <a:t>     </a:t>
            </a:r>
            <a:r>
              <a:rPr lang="en-IN" sz="1800" b="0" i="0" u="none" strike="noStrike" cap="none" dirty="0">
                <a:solidFill>
                  <a:schemeClr val="tx1"/>
                </a:solidFill>
                <a:latin typeface="Lato Black"/>
                <a:ea typeface="Calibri"/>
                <a:cs typeface="Calibri"/>
                <a:sym typeface="Lato Black"/>
              </a:rPr>
              <a:t>Name: </a:t>
            </a:r>
            <a:r>
              <a:rPr lang="en-IN" sz="1800" dirty="0" err="1">
                <a:solidFill>
                  <a:schemeClr val="tx1"/>
                </a:solidFill>
                <a:latin typeface="Lato Black"/>
                <a:ea typeface="Calibri"/>
                <a:cs typeface="Calibri"/>
                <a:sym typeface="Lato Black"/>
              </a:rPr>
              <a:t>P</a:t>
            </a:r>
            <a:r>
              <a:rPr lang="en-IN" sz="1800" b="0" i="0" u="none" strike="noStrike" cap="none" dirty="0" err="1">
                <a:solidFill>
                  <a:schemeClr val="tx1"/>
                </a:solidFill>
                <a:latin typeface="Lato Black"/>
                <a:ea typeface="Calibri"/>
                <a:cs typeface="Calibri"/>
                <a:sym typeface="Lato Black"/>
              </a:rPr>
              <a:t>.Harika</a:t>
            </a:r>
            <a:endParaRPr lang="en-IN" sz="1800" b="0" i="0" u="none" strike="noStrike" cap="none" dirty="0">
              <a:solidFill>
                <a:schemeClr val="tx1"/>
              </a:solidFill>
              <a:latin typeface="Lato Black"/>
              <a:ea typeface="Calibri"/>
              <a:cs typeface="Calibri"/>
              <a:sym typeface="Lato Black"/>
            </a:endParaRPr>
          </a:p>
          <a:p>
            <a:pPr marL="0" marR="0" lvl="0" indent="0" algn="just" rtl="0">
              <a:lnSpc>
                <a:spcPct val="150000"/>
              </a:lnSpc>
              <a:spcBef>
                <a:spcPts val="0"/>
              </a:spcBef>
              <a:spcAft>
                <a:spcPts val="0"/>
              </a:spcAft>
              <a:buClr>
                <a:srgbClr val="FF0000"/>
              </a:buClr>
              <a:buSzPts val="3200"/>
              <a:buFont typeface="Lato Black"/>
              <a:buNone/>
            </a:pPr>
            <a:r>
              <a:rPr lang="en-IN" sz="1800" dirty="0">
                <a:solidFill>
                  <a:schemeClr val="tx1"/>
                </a:solidFill>
                <a:latin typeface="Lato Black"/>
                <a:ea typeface="Calibri"/>
                <a:cs typeface="Calibri"/>
                <a:sym typeface="Lato Black"/>
              </a:rPr>
              <a:t>     Batch No: 506</a:t>
            </a:r>
            <a:endParaRPr sz="1800" b="0" i="0" u="none" strike="noStrike" cap="none" dirty="0">
              <a:solidFill>
                <a:schemeClr val="tx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57EFDE5-6BA6-1D97-04F4-89E1E66DDA52}"/>
              </a:ext>
            </a:extLst>
          </p:cNvPr>
          <p:cNvSpPr txBox="1"/>
          <p:nvPr/>
        </p:nvSpPr>
        <p:spPr>
          <a:xfrm>
            <a:off x="717754" y="714558"/>
            <a:ext cx="8141110" cy="4118050"/>
          </a:xfrm>
          <a:prstGeom prst="rect">
            <a:avLst/>
          </a:prstGeom>
          <a:noFill/>
        </p:spPr>
        <p:txBody>
          <a:bodyPr wrap="square">
            <a:spAutoFit/>
          </a:bodyPr>
          <a:lstStyle/>
          <a:p>
            <a:pPr marL="25400" lvl="0">
              <a:lnSpc>
                <a:spcPct val="90000"/>
              </a:lnSpc>
              <a:spcBef>
                <a:spcPts val="1000"/>
              </a:spcBef>
              <a:buSzPts val="2400"/>
            </a:pPr>
            <a:r>
              <a:rPr lang="en-IN" sz="2400" b="1" dirty="0">
                <a:solidFill>
                  <a:srgbClr val="FF0000"/>
                </a:solidFill>
              </a:rPr>
              <a:t>Objective of the Project</a:t>
            </a:r>
            <a:endParaRPr lang="en-IN" sz="2400" dirty="0">
              <a:solidFill>
                <a:srgbClr val="FF0000"/>
              </a:solidFill>
            </a:endParaRPr>
          </a:p>
          <a:p>
            <a:endParaRPr lang="en-US" sz="2400" dirty="0"/>
          </a:p>
          <a:p>
            <a:pPr marL="342900" indent="-342900">
              <a:buFont typeface="Arial" panose="020B0604020202020204" pitchFamily="34" charset="0"/>
              <a:buChar char="•"/>
            </a:pPr>
            <a:r>
              <a:rPr lang="en-US" sz="2400" dirty="0"/>
              <a:t>The main objective of this project is to design an Employee Management System to store and manage employee data efficiently.</a:t>
            </a:r>
            <a:br>
              <a:rPr lang="en-US" sz="2400" dirty="0"/>
            </a:br>
            <a:endParaRPr lang="en-US" sz="2400" dirty="0"/>
          </a:p>
          <a:p>
            <a:pPr marL="342900" indent="-342900">
              <a:buFont typeface="Arial" panose="020B0604020202020204" pitchFamily="34" charset="0"/>
              <a:buChar char="•"/>
            </a:pPr>
            <a:r>
              <a:rPr lang="en-US" sz="2400" dirty="0"/>
              <a:t>It helps track employee details, job roles, salary, leaves, and payroll in a structured way.</a:t>
            </a:r>
            <a:br>
              <a:rPr lang="en-US" sz="2400" dirty="0"/>
            </a:br>
            <a:endParaRPr lang="en-US" sz="2400" dirty="0"/>
          </a:p>
          <a:p>
            <a:pPr marL="342900" indent="-342900">
              <a:buFont typeface="Arial" panose="020B0604020202020204" pitchFamily="34" charset="0"/>
              <a:buChar char="•"/>
            </a:pPr>
            <a:r>
              <a:rPr lang="en-US" sz="2400" dirty="0"/>
              <a:t>It also ensures data accuracy and helps in analyzing information for better decision-making.</a:t>
            </a:r>
            <a:endParaRPr lang="en-IN" sz="2400" dirty="0"/>
          </a:p>
        </p:txBody>
      </p:sp>
    </p:spTree>
    <p:extLst>
      <p:ext uri="{BB962C8B-B14F-4D97-AF65-F5344CB8AC3E}">
        <p14:creationId xmlns:p14="http://schemas.microsoft.com/office/powerpoint/2010/main" val="17427070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E553C08-A917-720C-BE52-8937E3CE1456}"/>
              </a:ext>
            </a:extLst>
          </p:cNvPr>
          <p:cNvSpPr txBox="1"/>
          <p:nvPr/>
        </p:nvSpPr>
        <p:spPr>
          <a:xfrm>
            <a:off x="579120" y="257592"/>
            <a:ext cx="6096000" cy="400110"/>
          </a:xfrm>
          <a:prstGeom prst="rect">
            <a:avLst/>
          </a:prstGeom>
          <a:noFill/>
        </p:spPr>
        <p:txBody>
          <a:bodyPr wrap="square">
            <a:spAutoFit/>
          </a:bodyPr>
          <a:lstStyle/>
          <a:p>
            <a:r>
              <a:rPr lang="en-US" altLang="en-US" sz="2000" b="1" dirty="0">
                <a:solidFill>
                  <a:srgbClr val="FF0000"/>
                </a:solidFill>
              </a:rPr>
              <a:t>EER </a:t>
            </a:r>
            <a:r>
              <a:rPr lang="en-US" altLang="en-US" sz="2000" b="1" dirty="0">
                <a:solidFill>
                  <a:srgbClr val="FF0000"/>
                </a:solidFill>
                <a:sym typeface="+mn-ea"/>
              </a:rPr>
              <a:t>Diagram</a:t>
            </a:r>
            <a:r>
              <a:rPr lang="en-US" altLang="en-US" sz="2000" b="1" dirty="0">
                <a:solidFill>
                  <a:srgbClr val="FF0000"/>
                </a:solidFill>
              </a:rPr>
              <a:t>(Enhanced Entity-Relationship) </a:t>
            </a:r>
          </a:p>
        </p:txBody>
      </p:sp>
      <p:pic>
        <p:nvPicPr>
          <p:cNvPr id="5" name="Picture 4">
            <a:extLst>
              <a:ext uri="{FF2B5EF4-FFF2-40B4-BE49-F238E27FC236}">
                <a16:creationId xmlns:a16="http://schemas.microsoft.com/office/drawing/2014/main" id="{84940D37-C3D9-2E41-0E76-B11FE9788E2D}"/>
              </a:ext>
            </a:extLst>
          </p:cNvPr>
          <p:cNvPicPr>
            <a:picLocks noChangeAspect="1"/>
          </p:cNvPicPr>
          <p:nvPr/>
        </p:nvPicPr>
        <p:blipFill>
          <a:blip r:embed="rId2"/>
          <a:stretch>
            <a:fillRect/>
          </a:stretch>
        </p:blipFill>
        <p:spPr>
          <a:xfrm>
            <a:off x="5555799" y="656450"/>
            <a:ext cx="6636201" cy="6312605"/>
          </a:xfrm>
          <a:prstGeom prst="rect">
            <a:avLst/>
          </a:prstGeom>
        </p:spPr>
      </p:pic>
      <p:sp>
        <p:nvSpPr>
          <p:cNvPr id="7" name="TextBox 6">
            <a:extLst>
              <a:ext uri="{FF2B5EF4-FFF2-40B4-BE49-F238E27FC236}">
                <a16:creationId xmlns:a16="http://schemas.microsoft.com/office/drawing/2014/main" id="{A014F204-54FA-843E-A80A-C526126ABE7D}"/>
              </a:ext>
            </a:extLst>
          </p:cNvPr>
          <p:cNvSpPr txBox="1"/>
          <p:nvPr/>
        </p:nvSpPr>
        <p:spPr>
          <a:xfrm>
            <a:off x="417216" y="1025099"/>
            <a:ext cx="5206836" cy="5575309"/>
          </a:xfrm>
          <a:prstGeom prst="rect">
            <a:avLst/>
          </a:prstGeom>
          <a:noFill/>
        </p:spPr>
        <p:txBody>
          <a:bodyPr wrap="square">
            <a:spAutoFit/>
          </a:bodyPr>
          <a:lstStyle/>
          <a:p>
            <a:pPr>
              <a:lnSpc>
                <a:spcPct val="150000"/>
              </a:lnSpc>
            </a:pPr>
            <a:r>
              <a:rPr lang="en-US" sz="2000" dirty="0"/>
              <a:t>    The ER diagram represents the structure of the Employee Management System and shows how different tables are connected.</a:t>
            </a:r>
            <a:br>
              <a:rPr lang="en-US" sz="2000" dirty="0"/>
            </a:br>
            <a:r>
              <a:rPr lang="en-US" sz="2000" dirty="0"/>
              <a:t>    The </a:t>
            </a:r>
            <a:r>
              <a:rPr lang="en-US" sz="2000" b="1" dirty="0"/>
              <a:t>Employee</a:t>
            </a:r>
            <a:r>
              <a:rPr lang="en-US" sz="2000" dirty="0"/>
              <a:t> table is the central entity, linked to departments, salary, leaves, qualifications, and payroll using foreign keys.</a:t>
            </a:r>
            <a:br>
              <a:rPr lang="en-US" sz="2000" dirty="0"/>
            </a:br>
            <a:r>
              <a:rPr lang="en-US" sz="2000" dirty="0"/>
              <a:t>    It includes relationships like </a:t>
            </a:r>
            <a:r>
              <a:rPr lang="en-US" sz="2000" b="1" dirty="0"/>
              <a:t>one-to-many</a:t>
            </a:r>
            <a:r>
              <a:rPr lang="en-US" sz="2000" dirty="0"/>
              <a:t> (one employee can have multiple leaves, qualifications, and payroll records) and </a:t>
            </a:r>
            <a:r>
              <a:rPr lang="en-US" sz="2000" b="1" dirty="0"/>
              <a:t>many-to-one</a:t>
            </a:r>
            <a:r>
              <a:rPr lang="en-US" sz="2000" dirty="0"/>
              <a:t> (many employees belong to one department).</a:t>
            </a:r>
            <a:endParaRPr lang="en-IN" sz="2000" dirty="0"/>
          </a:p>
        </p:txBody>
      </p:sp>
    </p:spTree>
    <p:extLst>
      <p:ext uri="{BB962C8B-B14F-4D97-AF65-F5344CB8AC3E}">
        <p14:creationId xmlns:p14="http://schemas.microsoft.com/office/powerpoint/2010/main" val="5739184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A7C31A-4F63-FC5F-A29B-4D11F45C9F7D}"/>
              </a:ext>
            </a:extLst>
          </p:cNvPr>
          <p:cNvSpPr txBox="1"/>
          <p:nvPr/>
        </p:nvSpPr>
        <p:spPr>
          <a:xfrm>
            <a:off x="670178" y="593161"/>
            <a:ext cx="10851644" cy="6463308"/>
          </a:xfrm>
          <a:prstGeom prst="rect">
            <a:avLst/>
          </a:prstGeom>
          <a:noFill/>
        </p:spPr>
        <p:txBody>
          <a:bodyPr wrap="square">
            <a:spAutoFit/>
          </a:bodyPr>
          <a:lstStyle/>
          <a:p>
            <a:pPr>
              <a:lnSpc>
                <a:spcPct val="150000"/>
              </a:lnSpc>
            </a:pPr>
            <a:r>
              <a:rPr lang="en-US" sz="2000" b="1" dirty="0"/>
              <a:t>1. EMPLOYEE INSIGHTS</a:t>
            </a:r>
          </a:p>
          <a:p>
            <a:pPr>
              <a:lnSpc>
                <a:spcPct val="150000"/>
              </a:lnSpc>
            </a:pPr>
            <a:r>
              <a:rPr lang="en-US" sz="2000" dirty="0"/>
              <a:t>How many unique employees are currently in the system?</a:t>
            </a:r>
            <a:br>
              <a:rPr lang="en-US" sz="2000" dirty="0"/>
            </a:br>
            <a:endParaRPr lang="en-IN" sz="2000" b="1" dirty="0">
              <a:solidFill>
                <a:srgbClr val="FF0000"/>
              </a:solidFill>
            </a:endParaRPr>
          </a:p>
          <a:p>
            <a:endParaRPr lang="en-IN" sz="2400" b="1" dirty="0">
              <a:solidFill>
                <a:srgbClr val="FF0000"/>
              </a:solidFill>
            </a:endParaRPr>
          </a:p>
          <a:p>
            <a:endParaRPr lang="en-IN" sz="2400" b="1" dirty="0">
              <a:solidFill>
                <a:srgbClr val="FF0000"/>
              </a:solidFill>
            </a:endParaRPr>
          </a:p>
          <a:p>
            <a:r>
              <a:rPr lang="en-IN" sz="1800" b="1" dirty="0">
                <a:solidFill>
                  <a:schemeClr val="tx1"/>
                </a:solidFill>
              </a:rPr>
              <a:t>Output:</a:t>
            </a:r>
          </a:p>
          <a:p>
            <a:endParaRPr lang="en-IN" sz="2400" b="1" dirty="0">
              <a:solidFill>
                <a:srgbClr val="FF0000"/>
              </a:solidFill>
            </a:endParaRPr>
          </a:p>
          <a:p>
            <a:endParaRPr lang="en-IN" sz="2400" b="1" dirty="0">
              <a:solidFill>
                <a:srgbClr val="FF0000"/>
              </a:solidFill>
            </a:endParaRPr>
          </a:p>
          <a:p>
            <a:endParaRPr lang="en-IN" sz="2400" b="1" dirty="0">
              <a:solidFill>
                <a:srgbClr val="FF0000"/>
              </a:solidFill>
            </a:endParaRPr>
          </a:p>
          <a:p>
            <a:endParaRPr lang="en-IN" sz="2400" b="1" dirty="0">
              <a:solidFill>
                <a:srgbClr val="FF0000"/>
              </a:solidFill>
            </a:endParaRPr>
          </a:p>
          <a:p>
            <a:endParaRPr lang="en-IN" sz="2400" b="1" dirty="0">
              <a:solidFill>
                <a:srgbClr val="FF0000"/>
              </a:solidFill>
            </a:endParaRPr>
          </a:p>
          <a:p>
            <a:endParaRPr lang="en-IN" sz="2400" b="1" dirty="0">
              <a:solidFill>
                <a:srgbClr val="FF0000"/>
              </a:solidFill>
            </a:endParaRPr>
          </a:p>
          <a:p>
            <a:pPr>
              <a:lnSpc>
                <a:spcPct val="150000"/>
              </a:lnSpc>
            </a:pPr>
            <a:r>
              <a:rPr lang="en-IN" sz="2000" b="1" dirty="0">
                <a:solidFill>
                  <a:schemeClr val="tx1"/>
                </a:solidFill>
              </a:rPr>
              <a:t>observations: </a:t>
            </a:r>
            <a:r>
              <a:rPr lang="en-US" sz="2000" dirty="0"/>
              <a:t>The system contains 60 employees, which shows the total workforce of the organization. This helps in understanding the size of the company and planning resources accordingly.</a:t>
            </a:r>
            <a:endParaRPr lang="en-IN" sz="2000" dirty="0">
              <a:solidFill>
                <a:schemeClr val="tx1"/>
              </a:solidFill>
            </a:endParaRPr>
          </a:p>
          <a:p>
            <a:endParaRPr lang="en-IN" sz="2400" b="1" dirty="0">
              <a:solidFill>
                <a:srgbClr val="FF0000"/>
              </a:solidFill>
            </a:endParaRPr>
          </a:p>
        </p:txBody>
      </p:sp>
      <p:pic>
        <p:nvPicPr>
          <p:cNvPr id="5" name="Picture 4">
            <a:extLst>
              <a:ext uri="{FF2B5EF4-FFF2-40B4-BE49-F238E27FC236}">
                <a16:creationId xmlns:a16="http://schemas.microsoft.com/office/drawing/2014/main" id="{96F6CB97-9FF5-7924-806C-1B351EB4FB8B}"/>
              </a:ext>
            </a:extLst>
          </p:cNvPr>
          <p:cNvPicPr>
            <a:picLocks noChangeAspect="1"/>
          </p:cNvPicPr>
          <p:nvPr/>
        </p:nvPicPr>
        <p:blipFill>
          <a:blip r:embed="rId2"/>
          <a:stretch>
            <a:fillRect/>
          </a:stretch>
        </p:blipFill>
        <p:spPr>
          <a:xfrm>
            <a:off x="816076" y="3257135"/>
            <a:ext cx="4591666" cy="1963794"/>
          </a:xfrm>
          <a:prstGeom prst="rect">
            <a:avLst/>
          </a:prstGeom>
        </p:spPr>
      </p:pic>
      <p:pic>
        <p:nvPicPr>
          <p:cNvPr id="9" name="Picture 8">
            <a:extLst>
              <a:ext uri="{FF2B5EF4-FFF2-40B4-BE49-F238E27FC236}">
                <a16:creationId xmlns:a16="http://schemas.microsoft.com/office/drawing/2014/main" id="{8FCC6163-A619-AD95-14DF-4966D6285AE7}"/>
              </a:ext>
            </a:extLst>
          </p:cNvPr>
          <p:cNvPicPr>
            <a:picLocks noChangeAspect="1"/>
          </p:cNvPicPr>
          <p:nvPr/>
        </p:nvPicPr>
        <p:blipFill>
          <a:blip r:embed="rId3"/>
          <a:stretch>
            <a:fillRect/>
          </a:stretch>
        </p:blipFill>
        <p:spPr>
          <a:xfrm>
            <a:off x="816076" y="1889321"/>
            <a:ext cx="5140687" cy="457264"/>
          </a:xfrm>
          <a:prstGeom prst="rect">
            <a:avLst/>
          </a:prstGeom>
        </p:spPr>
      </p:pic>
    </p:spTree>
    <p:extLst>
      <p:ext uri="{BB962C8B-B14F-4D97-AF65-F5344CB8AC3E}">
        <p14:creationId xmlns:p14="http://schemas.microsoft.com/office/powerpoint/2010/main" val="4449386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EDCFAF7-7252-D4E2-15D9-B71CD5E5CB8F}"/>
              </a:ext>
            </a:extLst>
          </p:cNvPr>
          <p:cNvSpPr txBox="1"/>
          <p:nvPr/>
        </p:nvSpPr>
        <p:spPr>
          <a:xfrm>
            <a:off x="521110" y="377054"/>
            <a:ext cx="10844980" cy="7017306"/>
          </a:xfrm>
          <a:prstGeom prst="rect">
            <a:avLst/>
          </a:prstGeom>
          <a:noFill/>
        </p:spPr>
        <p:txBody>
          <a:bodyPr wrap="square">
            <a:spAutoFit/>
          </a:bodyPr>
          <a:lstStyle/>
          <a:p>
            <a:r>
              <a:rPr lang="en-IN" sz="2000" b="1" dirty="0"/>
              <a:t>2. Which departments have the highest number of employees?</a:t>
            </a:r>
          </a:p>
          <a:p>
            <a:endParaRPr lang="en-IN" sz="2000" dirty="0"/>
          </a:p>
          <a:p>
            <a:endParaRPr lang="en-IN" sz="2000" dirty="0"/>
          </a:p>
          <a:p>
            <a:endParaRPr lang="en-IN" dirty="0"/>
          </a:p>
          <a:p>
            <a:endParaRPr lang="en-IN" dirty="0"/>
          </a:p>
          <a:p>
            <a:endParaRPr lang="en-IN" dirty="0"/>
          </a:p>
          <a:p>
            <a:endParaRPr lang="en-IN" dirty="0"/>
          </a:p>
          <a:p>
            <a:endParaRPr lang="en-IN" dirty="0"/>
          </a:p>
          <a:p>
            <a:endParaRPr lang="en-IN" dirty="0"/>
          </a:p>
          <a:p>
            <a:endParaRPr lang="en-IN" dirty="0"/>
          </a:p>
          <a:p>
            <a:r>
              <a:rPr lang="en-IN" sz="2000" b="1" dirty="0"/>
              <a:t>Output:</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a:lnSpc>
                <a:spcPct val="150000"/>
              </a:lnSpc>
            </a:pPr>
            <a:r>
              <a:rPr lang="en-IN" sz="2000" b="1" dirty="0"/>
              <a:t>Observations: </a:t>
            </a:r>
            <a:r>
              <a:rPr lang="en-US" sz="2000" dirty="0"/>
              <a:t>The IT and Finance departments have the highest number of employees (9 each), which means these departments are more important and require more manpower compared to others.</a:t>
            </a:r>
            <a:endParaRPr lang="en-IN" dirty="0"/>
          </a:p>
          <a:p>
            <a:endParaRPr lang="en-IN" dirty="0"/>
          </a:p>
          <a:p>
            <a:endParaRPr lang="en-IN" dirty="0"/>
          </a:p>
          <a:p>
            <a:endParaRPr lang="en-IN" dirty="0"/>
          </a:p>
        </p:txBody>
      </p:sp>
      <p:pic>
        <p:nvPicPr>
          <p:cNvPr id="7" name="Picture 6">
            <a:extLst>
              <a:ext uri="{FF2B5EF4-FFF2-40B4-BE49-F238E27FC236}">
                <a16:creationId xmlns:a16="http://schemas.microsoft.com/office/drawing/2014/main" id="{B9B7D9D1-A7B2-BD2F-A288-9743C085ED96}"/>
              </a:ext>
            </a:extLst>
          </p:cNvPr>
          <p:cNvPicPr>
            <a:picLocks noChangeAspect="1"/>
          </p:cNvPicPr>
          <p:nvPr/>
        </p:nvPicPr>
        <p:blipFill>
          <a:blip r:embed="rId2"/>
          <a:stretch>
            <a:fillRect/>
          </a:stretch>
        </p:blipFill>
        <p:spPr>
          <a:xfrm>
            <a:off x="825910" y="895383"/>
            <a:ext cx="4182059" cy="1724266"/>
          </a:xfrm>
          <a:prstGeom prst="rect">
            <a:avLst/>
          </a:prstGeom>
        </p:spPr>
      </p:pic>
      <p:pic>
        <p:nvPicPr>
          <p:cNvPr id="9" name="Picture 8">
            <a:extLst>
              <a:ext uri="{FF2B5EF4-FFF2-40B4-BE49-F238E27FC236}">
                <a16:creationId xmlns:a16="http://schemas.microsoft.com/office/drawing/2014/main" id="{9292B4F3-436B-B38E-411C-570A73A651E6}"/>
              </a:ext>
            </a:extLst>
          </p:cNvPr>
          <p:cNvPicPr>
            <a:picLocks noChangeAspect="1"/>
          </p:cNvPicPr>
          <p:nvPr/>
        </p:nvPicPr>
        <p:blipFill>
          <a:blip r:embed="rId3"/>
          <a:stretch>
            <a:fillRect/>
          </a:stretch>
        </p:blipFill>
        <p:spPr>
          <a:xfrm>
            <a:off x="1688793" y="2916329"/>
            <a:ext cx="5026639" cy="2225942"/>
          </a:xfrm>
          <a:prstGeom prst="rect">
            <a:avLst/>
          </a:prstGeom>
        </p:spPr>
      </p:pic>
    </p:spTree>
    <p:extLst>
      <p:ext uri="{BB962C8B-B14F-4D97-AF65-F5344CB8AC3E}">
        <p14:creationId xmlns:p14="http://schemas.microsoft.com/office/powerpoint/2010/main" val="31139276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547740-8D14-7449-82D1-9044C63FC612}"/>
              </a:ext>
            </a:extLst>
          </p:cNvPr>
          <p:cNvSpPr txBox="1"/>
          <p:nvPr/>
        </p:nvSpPr>
        <p:spPr>
          <a:xfrm>
            <a:off x="904567" y="445880"/>
            <a:ext cx="10805651" cy="8863965"/>
          </a:xfrm>
          <a:prstGeom prst="rect">
            <a:avLst/>
          </a:prstGeom>
          <a:noFill/>
        </p:spPr>
        <p:txBody>
          <a:bodyPr wrap="square">
            <a:spAutoFit/>
          </a:bodyPr>
          <a:lstStyle/>
          <a:p>
            <a:r>
              <a:rPr lang="en-IN" sz="2000" b="1" dirty="0"/>
              <a:t>3.What is the average salary per department?                             </a:t>
            </a:r>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r>
              <a:rPr lang="en-IN" sz="2000" b="1" dirty="0"/>
              <a:t>Output:</a:t>
            </a:r>
          </a:p>
          <a:p>
            <a:r>
              <a:rPr lang="en-IN" sz="2000" b="1" dirty="0"/>
              <a:t> </a:t>
            </a:r>
          </a:p>
          <a:p>
            <a:endParaRPr lang="en-IN" sz="2000" b="1" dirty="0"/>
          </a:p>
          <a:p>
            <a:endParaRPr lang="en-IN" sz="2000" b="1" dirty="0"/>
          </a:p>
          <a:p>
            <a:endParaRPr lang="en-IN" sz="2000" b="1" dirty="0"/>
          </a:p>
          <a:p>
            <a:endParaRPr lang="en-IN" sz="2000" b="1" dirty="0"/>
          </a:p>
          <a:p>
            <a:endParaRPr lang="en-IN" sz="2000" b="1" dirty="0"/>
          </a:p>
          <a:p>
            <a:pPr>
              <a:lnSpc>
                <a:spcPct val="150000"/>
              </a:lnSpc>
            </a:pPr>
            <a:r>
              <a:rPr lang="en-IN" sz="2000" b="1" dirty="0"/>
              <a:t>Observations</a:t>
            </a:r>
            <a:r>
              <a:rPr lang="en-US" sz="2000" dirty="0"/>
              <a:t> The average salary in all departments is between 62K and 84K, showing that the company maintains a balanced and consistent salary structure across departments.</a:t>
            </a:r>
          </a:p>
          <a:p>
            <a:pPr>
              <a:lnSpc>
                <a:spcPct val="150000"/>
              </a:lnSpc>
            </a:pPr>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p:txBody>
      </p:sp>
      <p:pic>
        <p:nvPicPr>
          <p:cNvPr id="5" name="Picture 4">
            <a:extLst>
              <a:ext uri="{FF2B5EF4-FFF2-40B4-BE49-F238E27FC236}">
                <a16:creationId xmlns:a16="http://schemas.microsoft.com/office/drawing/2014/main" id="{DE0F11FA-8117-EB57-F43E-BB750C108A4B}"/>
              </a:ext>
            </a:extLst>
          </p:cNvPr>
          <p:cNvPicPr>
            <a:picLocks noChangeAspect="1"/>
          </p:cNvPicPr>
          <p:nvPr/>
        </p:nvPicPr>
        <p:blipFill>
          <a:blip r:embed="rId2"/>
          <a:stretch>
            <a:fillRect/>
          </a:stretch>
        </p:blipFill>
        <p:spPr>
          <a:xfrm>
            <a:off x="1150375" y="933102"/>
            <a:ext cx="6125430" cy="2085401"/>
          </a:xfrm>
          <a:prstGeom prst="rect">
            <a:avLst/>
          </a:prstGeom>
        </p:spPr>
      </p:pic>
      <p:pic>
        <p:nvPicPr>
          <p:cNvPr id="7" name="Picture 6">
            <a:extLst>
              <a:ext uri="{FF2B5EF4-FFF2-40B4-BE49-F238E27FC236}">
                <a16:creationId xmlns:a16="http://schemas.microsoft.com/office/drawing/2014/main" id="{C475F05C-9460-9ED0-DD68-75F9A5F030F3}"/>
              </a:ext>
            </a:extLst>
          </p:cNvPr>
          <p:cNvPicPr>
            <a:picLocks noChangeAspect="1"/>
          </p:cNvPicPr>
          <p:nvPr/>
        </p:nvPicPr>
        <p:blipFill>
          <a:blip r:embed="rId3"/>
          <a:stretch>
            <a:fillRect/>
          </a:stretch>
        </p:blipFill>
        <p:spPr>
          <a:xfrm>
            <a:off x="2448560" y="3286760"/>
            <a:ext cx="3800795" cy="2057400"/>
          </a:xfrm>
          <a:prstGeom prst="rect">
            <a:avLst/>
          </a:prstGeom>
        </p:spPr>
      </p:pic>
    </p:spTree>
    <p:extLst>
      <p:ext uri="{BB962C8B-B14F-4D97-AF65-F5344CB8AC3E}">
        <p14:creationId xmlns:p14="http://schemas.microsoft.com/office/powerpoint/2010/main" val="14106733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0B7195D-1BC8-5AC2-3398-D2DD3E8EE391}"/>
              </a:ext>
            </a:extLst>
          </p:cNvPr>
          <p:cNvSpPr txBox="1"/>
          <p:nvPr/>
        </p:nvSpPr>
        <p:spPr>
          <a:xfrm>
            <a:off x="802639" y="460792"/>
            <a:ext cx="11045231" cy="4651979"/>
          </a:xfrm>
          <a:prstGeom prst="rect">
            <a:avLst/>
          </a:prstGeom>
          <a:noFill/>
        </p:spPr>
        <p:txBody>
          <a:bodyPr wrap="square">
            <a:spAutoFit/>
          </a:bodyPr>
          <a:lstStyle/>
          <a:p>
            <a:r>
              <a:rPr lang="en-IN" sz="2000" b="1" dirty="0"/>
              <a:t>4. Who are the top 5 highest-paid employees?                 Output:</a:t>
            </a:r>
          </a:p>
          <a:p>
            <a:endParaRPr lang="en-IN" sz="2000" dirty="0"/>
          </a:p>
          <a:p>
            <a:endParaRPr lang="en-IN" sz="2000" dirty="0"/>
          </a:p>
          <a:p>
            <a:endParaRPr lang="en-IN" sz="2000" dirty="0"/>
          </a:p>
          <a:p>
            <a:endParaRPr lang="en-IN" sz="2000" dirty="0"/>
          </a:p>
          <a:p>
            <a:endParaRPr lang="en-IN" sz="2000" dirty="0"/>
          </a:p>
          <a:p>
            <a:endParaRPr lang="en-IN" sz="2000" dirty="0"/>
          </a:p>
          <a:p>
            <a:endParaRPr lang="en-IN" sz="2000" dirty="0"/>
          </a:p>
          <a:p>
            <a:endParaRPr lang="en-IN" sz="2000" dirty="0"/>
          </a:p>
          <a:p>
            <a:endParaRPr lang="en-IN" sz="2000" dirty="0"/>
          </a:p>
          <a:p>
            <a:endParaRPr lang="en-IN" sz="2000" dirty="0"/>
          </a:p>
          <a:p>
            <a:r>
              <a:rPr lang="en-IN" sz="2000" b="1" dirty="0"/>
              <a:t>					</a:t>
            </a:r>
            <a:endParaRPr lang="en-IN" sz="2000" dirty="0"/>
          </a:p>
          <a:p>
            <a:pPr>
              <a:lnSpc>
                <a:spcPct val="150000"/>
              </a:lnSpc>
            </a:pPr>
            <a:r>
              <a:rPr lang="en-IN" sz="2000" b="1" dirty="0"/>
              <a:t>Observation: </a:t>
            </a:r>
            <a:r>
              <a:rPr lang="en-US" sz="2000" dirty="0"/>
              <a:t>A few employees like Ingrid, John, Grake, Hank, and Kelly earn the highest salaries, which indicates that they are likely in senior or specialized roles in the organization.</a:t>
            </a:r>
            <a:endParaRPr lang="en-IN" sz="2000" dirty="0"/>
          </a:p>
        </p:txBody>
      </p:sp>
      <p:pic>
        <p:nvPicPr>
          <p:cNvPr id="5" name="Picture 4">
            <a:extLst>
              <a:ext uri="{FF2B5EF4-FFF2-40B4-BE49-F238E27FC236}">
                <a16:creationId xmlns:a16="http://schemas.microsoft.com/office/drawing/2014/main" id="{3CD8802A-93F5-A4FB-58B5-23C69C09D577}"/>
              </a:ext>
            </a:extLst>
          </p:cNvPr>
          <p:cNvPicPr>
            <a:picLocks noChangeAspect="1"/>
          </p:cNvPicPr>
          <p:nvPr/>
        </p:nvPicPr>
        <p:blipFill>
          <a:blip r:embed="rId2"/>
          <a:stretch>
            <a:fillRect/>
          </a:stretch>
        </p:blipFill>
        <p:spPr>
          <a:xfrm>
            <a:off x="954264" y="1296695"/>
            <a:ext cx="5810985" cy="2515763"/>
          </a:xfrm>
          <a:prstGeom prst="rect">
            <a:avLst/>
          </a:prstGeom>
        </p:spPr>
      </p:pic>
      <p:pic>
        <p:nvPicPr>
          <p:cNvPr id="7" name="Picture 6">
            <a:extLst>
              <a:ext uri="{FF2B5EF4-FFF2-40B4-BE49-F238E27FC236}">
                <a16:creationId xmlns:a16="http://schemas.microsoft.com/office/drawing/2014/main" id="{42F051B9-BE89-D685-B816-B67E9B4D4C5B}"/>
              </a:ext>
            </a:extLst>
          </p:cNvPr>
          <p:cNvPicPr>
            <a:picLocks noChangeAspect="1"/>
          </p:cNvPicPr>
          <p:nvPr/>
        </p:nvPicPr>
        <p:blipFill>
          <a:blip r:embed="rId3"/>
          <a:stretch>
            <a:fillRect/>
          </a:stretch>
        </p:blipFill>
        <p:spPr>
          <a:xfrm>
            <a:off x="7306023" y="913237"/>
            <a:ext cx="4362758" cy="1781424"/>
          </a:xfrm>
          <a:prstGeom prst="rect">
            <a:avLst/>
          </a:prstGeom>
        </p:spPr>
      </p:pic>
    </p:spTree>
    <p:extLst>
      <p:ext uri="{BB962C8B-B14F-4D97-AF65-F5344CB8AC3E}">
        <p14:creationId xmlns:p14="http://schemas.microsoft.com/office/powerpoint/2010/main" val="6288873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F7BE8A6-BD5D-3BCC-5FA2-CCD47DD76DEF}"/>
              </a:ext>
            </a:extLst>
          </p:cNvPr>
          <p:cNvSpPr txBox="1"/>
          <p:nvPr/>
        </p:nvSpPr>
        <p:spPr>
          <a:xfrm>
            <a:off x="447040" y="430312"/>
            <a:ext cx="11297920" cy="8402300"/>
          </a:xfrm>
          <a:prstGeom prst="rect">
            <a:avLst/>
          </a:prstGeom>
          <a:noFill/>
        </p:spPr>
        <p:txBody>
          <a:bodyPr wrap="square">
            <a:spAutoFit/>
          </a:bodyPr>
          <a:lstStyle/>
          <a:p>
            <a:r>
              <a:rPr lang="en-IN" sz="2000" b="1" dirty="0"/>
              <a:t>5. What is the total salary expenditure across the company?</a:t>
            </a:r>
          </a:p>
          <a:p>
            <a:endParaRPr lang="en-IN" sz="2000" b="1" dirty="0"/>
          </a:p>
          <a:p>
            <a:endParaRPr lang="en-IN" sz="2000" b="1" dirty="0"/>
          </a:p>
          <a:p>
            <a:endParaRPr lang="en-IN" sz="2000" b="1" dirty="0"/>
          </a:p>
          <a:p>
            <a:endParaRPr lang="en-IN" sz="2000" b="1" dirty="0"/>
          </a:p>
          <a:p>
            <a:r>
              <a:rPr lang="en-IN" sz="2000" b="1" dirty="0"/>
              <a:t>Output: </a:t>
            </a:r>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pPr>
              <a:lnSpc>
                <a:spcPct val="150000"/>
              </a:lnSpc>
            </a:pPr>
            <a:r>
              <a:rPr lang="en-IN" sz="2000" b="1" dirty="0"/>
              <a:t>Observation: </a:t>
            </a:r>
            <a:r>
              <a:rPr lang="en-US" sz="2000" dirty="0"/>
              <a:t>The total salary expenditure of the company is </a:t>
            </a:r>
            <a:r>
              <a:rPr lang="en-US" sz="2000" b="1" dirty="0"/>
              <a:t>4,321,000</a:t>
            </a:r>
            <a:r>
              <a:rPr lang="en-US" sz="2000" dirty="0"/>
              <a:t>, indicating the overall payroll cost.</a:t>
            </a:r>
            <a:br>
              <a:rPr lang="en-US" sz="2000" dirty="0"/>
            </a:br>
            <a:endParaRPr lang="en-IN" sz="2000" b="1" dirty="0"/>
          </a:p>
          <a:p>
            <a:pPr>
              <a:lnSpc>
                <a:spcPct val="150000"/>
              </a:lnSpc>
            </a:pPr>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p:txBody>
      </p:sp>
      <p:pic>
        <p:nvPicPr>
          <p:cNvPr id="5" name="Picture 4">
            <a:extLst>
              <a:ext uri="{FF2B5EF4-FFF2-40B4-BE49-F238E27FC236}">
                <a16:creationId xmlns:a16="http://schemas.microsoft.com/office/drawing/2014/main" id="{B7DD3BAB-E294-7264-FF1F-41600E6A3BBC}"/>
              </a:ext>
            </a:extLst>
          </p:cNvPr>
          <p:cNvPicPr>
            <a:picLocks noChangeAspect="1"/>
          </p:cNvPicPr>
          <p:nvPr/>
        </p:nvPicPr>
        <p:blipFill>
          <a:blip r:embed="rId2"/>
          <a:stretch>
            <a:fillRect/>
          </a:stretch>
        </p:blipFill>
        <p:spPr>
          <a:xfrm>
            <a:off x="1109171" y="795377"/>
            <a:ext cx="2495898" cy="847843"/>
          </a:xfrm>
          <a:prstGeom prst="rect">
            <a:avLst/>
          </a:prstGeom>
        </p:spPr>
      </p:pic>
      <p:pic>
        <p:nvPicPr>
          <p:cNvPr id="7" name="Picture 6">
            <a:extLst>
              <a:ext uri="{FF2B5EF4-FFF2-40B4-BE49-F238E27FC236}">
                <a16:creationId xmlns:a16="http://schemas.microsoft.com/office/drawing/2014/main" id="{DE35164C-5F7C-7D23-38C0-F611556FBBA7}"/>
              </a:ext>
            </a:extLst>
          </p:cNvPr>
          <p:cNvPicPr>
            <a:picLocks noChangeAspect="1"/>
          </p:cNvPicPr>
          <p:nvPr/>
        </p:nvPicPr>
        <p:blipFill>
          <a:blip r:embed="rId3"/>
          <a:stretch>
            <a:fillRect/>
          </a:stretch>
        </p:blipFill>
        <p:spPr>
          <a:xfrm>
            <a:off x="1188175" y="2591642"/>
            <a:ext cx="2337889" cy="1674715"/>
          </a:xfrm>
          <a:prstGeom prst="rect">
            <a:avLst/>
          </a:prstGeom>
        </p:spPr>
      </p:pic>
    </p:spTree>
    <p:extLst>
      <p:ext uri="{BB962C8B-B14F-4D97-AF65-F5344CB8AC3E}">
        <p14:creationId xmlns:p14="http://schemas.microsoft.com/office/powerpoint/2010/main" val="42492300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5829A8-40F6-CE63-F9FD-0CFE51BD7895}"/>
              </a:ext>
            </a:extLst>
          </p:cNvPr>
          <p:cNvSpPr txBox="1"/>
          <p:nvPr/>
        </p:nvSpPr>
        <p:spPr>
          <a:xfrm>
            <a:off x="751840" y="629246"/>
            <a:ext cx="11064240" cy="8484374"/>
          </a:xfrm>
          <a:prstGeom prst="rect">
            <a:avLst/>
          </a:prstGeom>
          <a:noFill/>
        </p:spPr>
        <p:txBody>
          <a:bodyPr wrap="square">
            <a:spAutoFit/>
          </a:bodyPr>
          <a:lstStyle/>
          <a:p>
            <a:pPr rtl="0">
              <a:spcBef>
                <a:spcPts val="1400"/>
              </a:spcBef>
              <a:spcAft>
                <a:spcPts val="400"/>
              </a:spcAft>
              <a:buNone/>
            </a:pPr>
            <a:r>
              <a:rPr lang="en-US" sz="2000" b="1" i="0" u="none" strike="noStrike" dirty="0">
                <a:solidFill>
                  <a:srgbClr val="000000"/>
                </a:solidFill>
                <a:effectLst/>
                <a:latin typeface="Arial" panose="020B0604020202020204" pitchFamily="34" charset="0"/>
              </a:rPr>
              <a:t>2. JOB ROLE AND DEPARTMENT ANALYSIS</a:t>
            </a:r>
            <a:endParaRPr lang="en-US" sz="2000" b="1" dirty="0">
              <a:effectLst/>
            </a:endParaRPr>
          </a:p>
          <a:p>
            <a:pPr rtl="0" fontAlgn="base">
              <a:spcBef>
                <a:spcPts val="1200"/>
              </a:spcBef>
              <a:spcAft>
                <a:spcPts val="1200"/>
              </a:spcAft>
            </a:pPr>
            <a:r>
              <a:rPr lang="en-US" sz="2000" b="1" i="0" u="none" strike="noStrike" dirty="0">
                <a:solidFill>
                  <a:srgbClr val="000000"/>
                </a:solidFill>
                <a:effectLst/>
                <a:latin typeface="Arial" panose="020B0604020202020204" pitchFamily="34" charset="0"/>
              </a:rPr>
              <a:t>1.How many different job roles exist in each department?            Output:            </a:t>
            </a:r>
          </a:p>
          <a:p>
            <a:pPr rtl="0" fontAlgn="base">
              <a:spcBef>
                <a:spcPts val="1200"/>
              </a:spcBef>
              <a:spcAft>
                <a:spcPts val="1200"/>
              </a:spcAft>
            </a:pPr>
            <a:endParaRPr lang="en-US" sz="2000" b="1" i="0" u="none" strike="noStrike" dirty="0">
              <a:solidFill>
                <a:srgbClr val="000000"/>
              </a:solidFill>
              <a:effectLst/>
              <a:latin typeface="Arial" panose="020B0604020202020204" pitchFamily="34" charset="0"/>
            </a:endParaRPr>
          </a:p>
          <a:p>
            <a:pPr rtl="0" fontAlgn="base">
              <a:spcBef>
                <a:spcPts val="1200"/>
              </a:spcBef>
              <a:spcAft>
                <a:spcPts val="1200"/>
              </a:spcAft>
            </a:pPr>
            <a:endParaRPr lang="en-US" sz="2000" b="1" dirty="0">
              <a:latin typeface="Arial" panose="020B0604020202020204" pitchFamily="34" charset="0"/>
            </a:endParaRPr>
          </a:p>
          <a:p>
            <a:pPr rtl="0" fontAlgn="base">
              <a:spcBef>
                <a:spcPts val="1200"/>
              </a:spcBef>
              <a:spcAft>
                <a:spcPts val="1200"/>
              </a:spcAft>
            </a:pPr>
            <a:endParaRPr lang="en-US" sz="2000" b="1" i="0" u="none" strike="noStrike" dirty="0">
              <a:solidFill>
                <a:srgbClr val="000000"/>
              </a:solidFill>
              <a:effectLst/>
              <a:latin typeface="Arial" panose="020B0604020202020204" pitchFamily="34" charset="0"/>
            </a:endParaRPr>
          </a:p>
          <a:p>
            <a:pPr rtl="0" fontAlgn="base">
              <a:spcBef>
                <a:spcPts val="1200"/>
              </a:spcBef>
              <a:spcAft>
                <a:spcPts val="1200"/>
              </a:spcAft>
            </a:pPr>
            <a:endParaRPr lang="en-US" sz="2000" b="1" dirty="0">
              <a:latin typeface="Arial" panose="020B0604020202020204" pitchFamily="34" charset="0"/>
            </a:endParaRPr>
          </a:p>
          <a:p>
            <a:pPr fontAlgn="base">
              <a:lnSpc>
                <a:spcPct val="150000"/>
              </a:lnSpc>
              <a:spcBef>
                <a:spcPts val="1200"/>
              </a:spcBef>
              <a:spcAft>
                <a:spcPts val="1200"/>
              </a:spcAft>
            </a:pPr>
            <a:r>
              <a:rPr lang="en-US" sz="2000" b="1" dirty="0">
                <a:latin typeface="Arial" panose="020B0604020202020204" pitchFamily="34" charset="0"/>
              </a:rPr>
              <a:t>Observation: </a:t>
            </a:r>
            <a:r>
              <a:rPr lang="en-US" sz="2000" dirty="0"/>
              <a:t>Finance and IT departments have the highest number of job roles (9), so they have more work and different responsibilities.</a:t>
            </a:r>
            <a:br>
              <a:rPr lang="en-US" sz="2000" dirty="0"/>
            </a:br>
            <a:r>
              <a:rPr lang="en-US" sz="2000" dirty="0"/>
              <a:t>Departments like Legal have fewer roles (5), so they have less variety in jobs.</a:t>
            </a:r>
            <a:br>
              <a:rPr lang="en-US" sz="2000" dirty="0"/>
            </a:br>
            <a:r>
              <a:rPr lang="en-US" sz="2000" dirty="0"/>
              <a:t>Overall, each department has a different number of roles depending on its work.</a:t>
            </a:r>
            <a:endParaRPr lang="en-US" sz="2000" b="1" dirty="0">
              <a:latin typeface="Arial" panose="020B0604020202020204" pitchFamily="34" charset="0"/>
            </a:endParaRPr>
          </a:p>
          <a:p>
            <a:pPr rtl="0" fontAlgn="base">
              <a:lnSpc>
                <a:spcPct val="150000"/>
              </a:lnSpc>
              <a:spcBef>
                <a:spcPts val="1200"/>
              </a:spcBef>
              <a:spcAft>
                <a:spcPts val="1200"/>
              </a:spcAft>
            </a:pPr>
            <a:endParaRPr lang="en-US" sz="2000" b="1" i="0" u="none" strike="noStrike" dirty="0">
              <a:solidFill>
                <a:srgbClr val="000000"/>
              </a:solidFill>
              <a:effectLst/>
              <a:latin typeface="Arial" panose="020B0604020202020204" pitchFamily="34" charset="0"/>
            </a:endParaRPr>
          </a:p>
          <a:p>
            <a:pPr rtl="0" fontAlgn="base">
              <a:spcBef>
                <a:spcPts val="1200"/>
              </a:spcBef>
              <a:spcAft>
                <a:spcPts val="1200"/>
              </a:spcAft>
            </a:pPr>
            <a:endParaRPr lang="en-US" sz="2000" b="1" dirty="0">
              <a:latin typeface="Arial" panose="020B0604020202020204" pitchFamily="34" charset="0"/>
            </a:endParaRPr>
          </a:p>
          <a:p>
            <a:pPr rtl="0" fontAlgn="base">
              <a:spcBef>
                <a:spcPts val="1200"/>
              </a:spcBef>
              <a:spcAft>
                <a:spcPts val="1200"/>
              </a:spcAft>
            </a:pPr>
            <a:endParaRPr lang="en-US" sz="2000" b="1" i="0" u="none" strike="noStrike" dirty="0">
              <a:solidFill>
                <a:srgbClr val="000000"/>
              </a:solidFill>
              <a:effectLst/>
              <a:latin typeface="Arial" panose="020B0604020202020204" pitchFamily="34" charset="0"/>
            </a:endParaRPr>
          </a:p>
          <a:p>
            <a:pPr rtl="0" fontAlgn="base">
              <a:spcBef>
                <a:spcPts val="1200"/>
              </a:spcBef>
              <a:spcAft>
                <a:spcPts val="1200"/>
              </a:spcAft>
            </a:pPr>
            <a:br>
              <a:rPr lang="en-US" sz="1400" b="0" i="0" u="none" strike="noStrike" dirty="0">
                <a:solidFill>
                  <a:srgbClr val="000000"/>
                </a:solidFill>
                <a:effectLst/>
                <a:latin typeface="Arial" panose="020B0604020202020204" pitchFamily="34" charset="0"/>
              </a:rPr>
            </a:br>
            <a:br>
              <a:rPr lang="en-US" sz="1400" b="0" i="0" u="none" strike="noStrike" dirty="0">
                <a:solidFill>
                  <a:srgbClr val="000000"/>
                </a:solidFill>
                <a:effectLst/>
                <a:latin typeface="Arial" panose="020B0604020202020204" pitchFamily="34" charset="0"/>
              </a:rPr>
            </a:br>
            <a:endParaRPr lang="en-US" sz="1400" b="0" i="0" u="none" strike="noStrike" dirty="0">
              <a:solidFill>
                <a:srgbClr val="000000"/>
              </a:solidFill>
              <a:effectLst/>
              <a:latin typeface="Arial" panose="020B0604020202020204" pitchFamily="34" charset="0"/>
            </a:endParaRPr>
          </a:p>
        </p:txBody>
      </p:sp>
      <p:pic>
        <p:nvPicPr>
          <p:cNvPr id="5" name="Picture 4">
            <a:extLst>
              <a:ext uri="{FF2B5EF4-FFF2-40B4-BE49-F238E27FC236}">
                <a16:creationId xmlns:a16="http://schemas.microsoft.com/office/drawing/2014/main" id="{DC15790C-6325-4284-27E6-6CCF9984E801}"/>
              </a:ext>
            </a:extLst>
          </p:cNvPr>
          <p:cNvPicPr>
            <a:picLocks noChangeAspect="1"/>
          </p:cNvPicPr>
          <p:nvPr/>
        </p:nvPicPr>
        <p:blipFill>
          <a:blip r:embed="rId2"/>
          <a:stretch>
            <a:fillRect/>
          </a:stretch>
        </p:blipFill>
        <p:spPr>
          <a:xfrm>
            <a:off x="1250649" y="1725794"/>
            <a:ext cx="4305901" cy="1943371"/>
          </a:xfrm>
          <a:prstGeom prst="rect">
            <a:avLst/>
          </a:prstGeom>
        </p:spPr>
      </p:pic>
      <p:pic>
        <p:nvPicPr>
          <p:cNvPr id="7" name="Picture 6">
            <a:extLst>
              <a:ext uri="{FF2B5EF4-FFF2-40B4-BE49-F238E27FC236}">
                <a16:creationId xmlns:a16="http://schemas.microsoft.com/office/drawing/2014/main" id="{F2F8D5B8-829D-E1B9-B92E-2DA5822AEEF5}"/>
              </a:ext>
            </a:extLst>
          </p:cNvPr>
          <p:cNvPicPr>
            <a:picLocks noChangeAspect="1"/>
          </p:cNvPicPr>
          <p:nvPr/>
        </p:nvPicPr>
        <p:blipFill>
          <a:blip r:embed="rId3"/>
          <a:stretch>
            <a:fillRect/>
          </a:stretch>
        </p:blipFill>
        <p:spPr>
          <a:xfrm>
            <a:off x="8199121" y="1802596"/>
            <a:ext cx="3241040" cy="2419688"/>
          </a:xfrm>
          <a:prstGeom prst="rect">
            <a:avLst/>
          </a:prstGeom>
        </p:spPr>
      </p:pic>
    </p:spTree>
    <p:extLst>
      <p:ext uri="{BB962C8B-B14F-4D97-AF65-F5344CB8AC3E}">
        <p14:creationId xmlns:p14="http://schemas.microsoft.com/office/powerpoint/2010/main" val="1889333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EA4930C-120C-A3BA-4CFD-A267DF06A224}"/>
              </a:ext>
            </a:extLst>
          </p:cNvPr>
          <p:cNvSpPr txBox="1"/>
          <p:nvPr/>
        </p:nvSpPr>
        <p:spPr>
          <a:xfrm>
            <a:off x="772160" y="765592"/>
            <a:ext cx="10424160" cy="6093976"/>
          </a:xfrm>
          <a:prstGeom prst="rect">
            <a:avLst/>
          </a:prstGeom>
          <a:noFill/>
        </p:spPr>
        <p:txBody>
          <a:bodyPr wrap="square">
            <a:spAutoFit/>
          </a:bodyPr>
          <a:lstStyle/>
          <a:p>
            <a:r>
              <a:rPr lang="en-IN" sz="2000" b="1" dirty="0"/>
              <a:t>3. Which job roles offer the highest salary?                                Output:</a:t>
            </a:r>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pPr>
              <a:lnSpc>
                <a:spcPct val="150000"/>
              </a:lnSpc>
            </a:pPr>
            <a:r>
              <a:rPr lang="en-IN" sz="2000" b="1" dirty="0"/>
              <a:t>Observation: </a:t>
            </a:r>
            <a:r>
              <a:rPr lang="en-US" sz="2000" dirty="0"/>
              <a:t>The Finance Director role has the highest salary of 170,000, which shows that this is the most important and highest-level position in the organization.</a:t>
            </a:r>
            <a:endParaRPr lang="en-IN" sz="2000" b="1" dirty="0"/>
          </a:p>
          <a:p>
            <a:pPr>
              <a:lnSpc>
                <a:spcPct val="150000"/>
              </a:lnSpc>
            </a:pPr>
            <a:endParaRPr lang="en-IN" sz="2000" b="1" dirty="0"/>
          </a:p>
          <a:p>
            <a:endParaRPr lang="en-IN" sz="2000" b="1" dirty="0"/>
          </a:p>
          <a:p>
            <a:endParaRPr lang="en-IN" sz="2000" b="1" dirty="0"/>
          </a:p>
          <a:p>
            <a:endParaRPr lang="en-IN" sz="2000" b="1" dirty="0"/>
          </a:p>
          <a:p>
            <a:endParaRPr lang="en-IN" sz="2000" b="1" dirty="0"/>
          </a:p>
          <a:p>
            <a:endParaRPr lang="en-IN" sz="2000" b="1" dirty="0"/>
          </a:p>
        </p:txBody>
      </p:sp>
      <p:pic>
        <p:nvPicPr>
          <p:cNvPr id="5" name="Picture 4">
            <a:extLst>
              <a:ext uri="{FF2B5EF4-FFF2-40B4-BE49-F238E27FC236}">
                <a16:creationId xmlns:a16="http://schemas.microsoft.com/office/drawing/2014/main" id="{78F28C4D-EBD9-0348-A8A7-12A3A689A27A}"/>
              </a:ext>
            </a:extLst>
          </p:cNvPr>
          <p:cNvPicPr>
            <a:picLocks noChangeAspect="1"/>
          </p:cNvPicPr>
          <p:nvPr/>
        </p:nvPicPr>
        <p:blipFill>
          <a:blip r:embed="rId2"/>
          <a:stretch>
            <a:fillRect/>
          </a:stretch>
        </p:blipFill>
        <p:spPr>
          <a:xfrm>
            <a:off x="1653596" y="1634215"/>
            <a:ext cx="3743847" cy="1962424"/>
          </a:xfrm>
          <a:prstGeom prst="rect">
            <a:avLst/>
          </a:prstGeom>
        </p:spPr>
      </p:pic>
      <p:pic>
        <p:nvPicPr>
          <p:cNvPr id="7" name="Picture 6">
            <a:extLst>
              <a:ext uri="{FF2B5EF4-FFF2-40B4-BE49-F238E27FC236}">
                <a16:creationId xmlns:a16="http://schemas.microsoft.com/office/drawing/2014/main" id="{38627B75-FBC3-CF70-06EF-418F7BE56028}"/>
              </a:ext>
            </a:extLst>
          </p:cNvPr>
          <p:cNvPicPr>
            <a:picLocks noChangeAspect="1"/>
          </p:cNvPicPr>
          <p:nvPr/>
        </p:nvPicPr>
        <p:blipFill>
          <a:blip r:embed="rId3"/>
          <a:stretch>
            <a:fillRect/>
          </a:stretch>
        </p:blipFill>
        <p:spPr>
          <a:xfrm>
            <a:off x="7766242" y="1385898"/>
            <a:ext cx="3430078" cy="2210741"/>
          </a:xfrm>
          <a:prstGeom prst="rect">
            <a:avLst/>
          </a:prstGeom>
        </p:spPr>
      </p:pic>
    </p:spTree>
    <p:extLst>
      <p:ext uri="{BB962C8B-B14F-4D97-AF65-F5344CB8AC3E}">
        <p14:creationId xmlns:p14="http://schemas.microsoft.com/office/powerpoint/2010/main" val="3449098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751D27-DACD-2774-58EE-D0994F323056}"/>
              </a:ext>
            </a:extLst>
          </p:cNvPr>
          <p:cNvSpPr txBox="1"/>
          <p:nvPr/>
        </p:nvSpPr>
        <p:spPr>
          <a:xfrm>
            <a:off x="792480" y="531912"/>
            <a:ext cx="10698480" cy="6863417"/>
          </a:xfrm>
          <a:prstGeom prst="rect">
            <a:avLst/>
          </a:prstGeom>
          <a:noFill/>
        </p:spPr>
        <p:txBody>
          <a:bodyPr wrap="square">
            <a:spAutoFit/>
          </a:bodyPr>
          <a:lstStyle/>
          <a:p>
            <a:r>
              <a:rPr lang="en-IN" sz="2000" b="1" dirty="0"/>
              <a:t>4.Which departments have the highest total salary allocation?             Output:</a:t>
            </a:r>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pPr>
              <a:lnSpc>
                <a:spcPct val="150000"/>
              </a:lnSpc>
            </a:pPr>
            <a:r>
              <a:rPr lang="en-IN" sz="2000" b="1" dirty="0"/>
              <a:t>Observation: </a:t>
            </a:r>
            <a:r>
              <a:rPr lang="en-US" sz="2000" dirty="0"/>
              <a:t>The Finance department has the highest total salary allocation of 651,000, which means the company spends the most on this department.</a:t>
            </a:r>
            <a:br>
              <a:rPr lang="en-US" sz="2000" dirty="0"/>
            </a:br>
            <a:r>
              <a:rPr lang="en-US" sz="2000" dirty="0"/>
              <a:t>This may be because it has more employees or higher-paying job roles.</a:t>
            </a:r>
            <a:endParaRPr lang="en-IN" sz="2000" b="1" dirty="0"/>
          </a:p>
          <a:p>
            <a:pPr>
              <a:lnSpc>
                <a:spcPct val="150000"/>
              </a:lnSpc>
            </a:pPr>
            <a:endParaRPr lang="en-IN" sz="2000" b="1" dirty="0"/>
          </a:p>
          <a:p>
            <a:endParaRPr lang="en-IN" sz="2000" b="1" dirty="0"/>
          </a:p>
          <a:p>
            <a:endParaRPr lang="en-IN" sz="2000" b="1" dirty="0"/>
          </a:p>
          <a:p>
            <a:endParaRPr lang="en-IN" sz="2000" b="1" dirty="0"/>
          </a:p>
          <a:p>
            <a:endParaRPr lang="en-IN" sz="2000" b="1" dirty="0"/>
          </a:p>
        </p:txBody>
      </p:sp>
      <p:pic>
        <p:nvPicPr>
          <p:cNvPr id="5" name="Picture 4">
            <a:extLst>
              <a:ext uri="{FF2B5EF4-FFF2-40B4-BE49-F238E27FC236}">
                <a16:creationId xmlns:a16="http://schemas.microsoft.com/office/drawing/2014/main" id="{466D7089-7B2B-3F85-A919-BF820BD4F704}"/>
              </a:ext>
            </a:extLst>
          </p:cNvPr>
          <p:cNvPicPr>
            <a:picLocks noChangeAspect="1"/>
          </p:cNvPicPr>
          <p:nvPr/>
        </p:nvPicPr>
        <p:blipFill>
          <a:blip r:embed="rId2"/>
          <a:stretch>
            <a:fillRect/>
          </a:stretch>
        </p:blipFill>
        <p:spPr>
          <a:xfrm>
            <a:off x="1224278" y="1074202"/>
            <a:ext cx="4582164" cy="3124636"/>
          </a:xfrm>
          <a:prstGeom prst="rect">
            <a:avLst/>
          </a:prstGeom>
        </p:spPr>
      </p:pic>
      <p:pic>
        <p:nvPicPr>
          <p:cNvPr id="7" name="Picture 6">
            <a:extLst>
              <a:ext uri="{FF2B5EF4-FFF2-40B4-BE49-F238E27FC236}">
                <a16:creationId xmlns:a16="http://schemas.microsoft.com/office/drawing/2014/main" id="{18ADC7CA-37F2-6EAB-7D13-9102D8B11770}"/>
              </a:ext>
            </a:extLst>
          </p:cNvPr>
          <p:cNvPicPr>
            <a:picLocks noChangeAspect="1"/>
          </p:cNvPicPr>
          <p:nvPr/>
        </p:nvPicPr>
        <p:blipFill>
          <a:blip r:embed="rId3"/>
          <a:stretch>
            <a:fillRect/>
          </a:stretch>
        </p:blipFill>
        <p:spPr>
          <a:xfrm>
            <a:off x="8392161" y="1209040"/>
            <a:ext cx="3098800" cy="1940560"/>
          </a:xfrm>
          <a:prstGeom prst="rect">
            <a:avLst/>
          </a:prstGeom>
        </p:spPr>
      </p:pic>
    </p:spTree>
    <p:extLst>
      <p:ext uri="{BB962C8B-B14F-4D97-AF65-F5344CB8AC3E}">
        <p14:creationId xmlns:p14="http://schemas.microsoft.com/office/powerpoint/2010/main" val="11703415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2D73291-134F-69D2-C1F1-C5FFECCD61EE}"/>
              </a:ext>
            </a:extLst>
          </p:cNvPr>
          <p:cNvSpPr txBox="1"/>
          <p:nvPr/>
        </p:nvSpPr>
        <p:spPr>
          <a:xfrm>
            <a:off x="640080" y="580231"/>
            <a:ext cx="10871200" cy="7530267"/>
          </a:xfrm>
          <a:prstGeom prst="rect">
            <a:avLst/>
          </a:prstGeom>
          <a:noFill/>
        </p:spPr>
        <p:txBody>
          <a:bodyPr wrap="square">
            <a:spAutoFit/>
          </a:bodyPr>
          <a:lstStyle/>
          <a:p>
            <a:pPr rtl="0">
              <a:lnSpc>
                <a:spcPct val="150000"/>
              </a:lnSpc>
              <a:spcBef>
                <a:spcPts val="1400"/>
              </a:spcBef>
              <a:spcAft>
                <a:spcPts val="400"/>
              </a:spcAft>
              <a:buNone/>
            </a:pPr>
            <a:r>
              <a:rPr lang="en-US" sz="2000" b="1" i="0" u="none" strike="noStrike" dirty="0">
                <a:solidFill>
                  <a:srgbClr val="000000"/>
                </a:solidFill>
                <a:effectLst/>
                <a:latin typeface="Arial" panose="020B0604020202020204" pitchFamily="34" charset="0"/>
              </a:rPr>
              <a:t>3. QUALIFICATION AND SKILLS ANALYSIS</a:t>
            </a:r>
            <a:endParaRPr lang="en-US" sz="2000" b="1" dirty="0">
              <a:effectLst/>
            </a:endParaRPr>
          </a:p>
          <a:p>
            <a:pPr>
              <a:lnSpc>
                <a:spcPct val="150000"/>
              </a:lnSpc>
              <a:buNone/>
            </a:pPr>
            <a:r>
              <a:rPr lang="en-US" sz="2000" b="1" i="0" u="none" strike="noStrike" dirty="0">
                <a:solidFill>
                  <a:srgbClr val="000000"/>
                </a:solidFill>
                <a:effectLst/>
                <a:latin typeface="Arial" panose="020B0604020202020204" pitchFamily="34" charset="0"/>
              </a:rPr>
              <a:t>  1. How many employees have at least one qualification listed?</a:t>
            </a:r>
          </a:p>
          <a:p>
            <a:pPr>
              <a:buNone/>
            </a:pPr>
            <a:endParaRPr lang="en-US" sz="2000" b="1" dirty="0">
              <a:latin typeface="Arial" panose="020B0604020202020204" pitchFamily="34" charset="0"/>
            </a:endParaRPr>
          </a:p>
          <a:p>
            <a:pPr>
              <a:buNone/>
            </a:pPr>
            <a:endParaRPr lang="en-US" sz="2000" b="1" i="0" u="none" strike="noStrike" dirty="0">
              <a:solidFill>
                <a:srgbClr val="000000"/>
              </a:solidFill>
              <a:effectLst/>
              <a:latin typeface="Arial" panose="020B0604020202020204" pitchFamily="34" charset="0"/>
            </a:endParaRPr>
          </a:p>
          <a:p>
            <a:pPr>
              <a:buNone/>
            </a:pPr>
            <a:endParaRPr lang="en-US" sz="2000" b="1" dirty="0">
              <a:latin typeface="Arial" panose="020B0604020202020204" pitchFamily="34" charset="0"/>
            </a:endParaRPr>
          </a:p>
          <a:p>
            <a:pPr>
              <a:buNone/>
            </a:pPr>
            <a:endParaRPr lang="en-US" sz="2000" b="1" i="0" u="none" strike="noStrike" dirty="0">
              <a:solidFill>
                <a:srgbClr val="000000"/>
              </a:solidFill>
              <a:effectLst/>
              <a:latin typeface="Arial" panose="020B0604020202020204" pitchFamily="34" charset="0"/>
            </a:endParaRPr>
          </a:p>
          <a:p>
            <a:pPr>
              <a:buNone/>
            </a:pPr>
            <a:endParaRPr lang="en-US" sz="2000" b="1" i="0" u="none" strike="noStrike" dirty="0">
              <a:solidFill>
                <a:srgbClr val="000000"/>
              </a:solidFill>
              <a:effectLst/>
              <a:latin typeface="Arial" panose="020B0604020202020204" pitchFamily="34" charset="0"/>
            </a:endParaRPr>
          </a:p>
          <a:p>
            <a:pPr>
              <a:buNone/>
            </a:pPr>
            <a:r>
              <a:rPr lang="en-US" sz="2000" b="1" dirty="0">
                <a:latin typeface="Arial" panose="020B0604020202020204" pitchFamily="34" charset="0"/>
              </a:rPr>
              <a:t>Output:</a:t>
            </a:r>
          </a:p>
          <a:p>
            <a:pPr>
              <a:buNone/>
            </a:pPr>
            <a:endParaRPr lang="en-US" sz="2000" b="1" i="0" u="none" strike="noStrike" dirty="0">
              <a:solidFill>
                <a:srgbClr val="000000"/>
              </a:solidFill>
              <a:effectLst/>
              <a:latin typeface="Arial" panose="020B0604020202020204" pitchFamily="34" charset="0"/>
            </a:endParaRPr>
          </a:p>
          <a:p>
            <a:pPr>
              <a:buNone/>
            </a:pPr>
            <a:endParaRPr lang="en-US" sz="2000" b="1" dirty="0">
              <a:latin typeface="Arial" panose="020B0604020202020204" pitchFamily="34" charset="0"/>
            </a:endParaRPr>
          </a:p>
          <a:p>
            <a:pPr>
              <a:buNone/>
            </a:pPr>
            <a:endParaRPr lang="en-US" sz="2000" b="1" i="0" u="none" strike="noStrike" dirty="0">
              <a:solidFill>
                <a:srgbClr val="000000"/>
              </a:solidFill>
              <a:effectLst/>
              <a:latin typeface="Arial" panose="020B0604020202020204" pitchFamily="34" charset="0"/>
            </a:endParaRPr>
          </a:p>
          <a:p>
            <a:pPr>
              <a:buNone/>
            </a:pPr>
            <a:endParaRPr lang="en-US" sz="2000" b="1" i="0" u="none" strike="noStrike" dirty="0">
              <a:solidFill>
                <a:srgbClr val="000000"/>
              </a:solidFill>
              <a:effectLst/>
              <a:latin typeface="Arial" panose="020B0604020202020204" pitchFamily="34" charset="0"/>
            </a:endParaRPr>
          </a:p>
          <a:p>
            <a:pPr>
              <a:lnSpc>
                <a:spcPct val="150000"/>
              </a:lnSpc>
              <a:buNone/>
            </a:pPr>
            <a:r>
              <a:rPr lang="en-US" sz="2000" b="1" dirty="0">
                <a:latin typeface="Arial" panose="020B0604020202020204" pitchFamily="34" charset="0"/>
              </a:rPr>
              <a:t>Observation: </a:t>
            </a:r>
            <a:r>
              <a:rPr lang="en-US" sz="2000" dirty="0"/>
              <a:t>All 60 employees have at least one qualification, which shows that every employee in the organization is qualified.</a:t>
            </a:r>
            <a:endParaRPr lang="en-US" sz="2000" b="1" dirty="0">
              <a:latin typeface="Arial" panose="020B0604020202020204" pitchFamily="34" charset="0"/>
            </a:endParaRPr>
          </a:p>
          <a:p>
            <a:pPr>
              <a:buNone/>
            </a:pPr>
            <a:endParaRPr lang="en-US" sz="2000" b="1" i="0" u="none" strike="noStrike" dirty="0">
              <a:solidFill>
                <a:srgbClr val="000000"/>
              </a:solidFill>
              <a:effectLst/>
              <a:latin typeface="Arial" panose="020B0604020202020204" pitchFamily="34" charset="0"/>
            </a:endParaRPr>
          </a:p>
          <a:p>
            <a:pPr>
              <a:buNone/>
            </a:pPr>
            <a:endParaRPr lang="en-US" sz="2000" b="1" dirty="0">
              <a:latin typeface="Arial" panose="020B0604020202020204" pitchFamily="34" charset="0"/>
            </a:endParaRPr>
          </a:p>
          <a:p>
            <a:pPr>
              <a:buNone/>
            </a:pPr>
            <a:endParaRPr lang="en-US" sz="2000" b="1" i="0" u="none" strike="noStrike" dirty="0">
              <a:solidFill>
                <a:srgbClr val="000000"/>
              </a:solidFill>
              <a:effectLst/>
              <a:latin typeface="Arial" panose="020B0604020202020204" pitchFamily="34" charset="0"/>
            </a:endParaRPr>
          </a:p>
          <a:p>
            <a:pPr>
              <a:buNone/>
            </a:pPr>
            <a:endParaRPr lang="en-US" sz="2000" b="1" dirty="0">
              <a:latin typeface="Arial" panose="020B0604020202020204" pitchFamily="34" charset="0"/>
            </a:endParaRPr>
          </a:p>
          <a:p>
            <a:pPr>
              <a:buNone/>
            </a:pPr>
            <a:endParaRPr lang="en-US" sz="2000" b="1" i="0" u="none" strike="noStrike" dirty="0">
              <a:solidFill>
                <a:srgbClr val="000000"/>
              </a:solidFill>
              <a:effectLst/>
              <a:latin typeface="Arial" panose="020B0604020202020204" pitchFamily="34" charset="0"/>
            </a:endParaRPr>
          </a:p>
          <a:p>
            <a:pPr>
              <a:buNone/>
            </a:pPr>
            <a:endParaRPr lang="en-US" sz="2000" b="1" dirty="0">
              <a:latin typeface="Arial" panose="020B0604020202020204" pitchFamily="34" charset="0"/>
            </a:endParaRPr>
          </a:p>
          <a:p>
            <a:pPr>
              <a:buNone/>
            </a:pPr>
            <a:endParaRPr lang="en-US" sz="2000" b="1" i="0" u="none" strike="noStrike" dirty="0">
              <a:solidFill>
                <a:srgbClr val="000000"/>
              </a:solidFill>
              <a:effectLst/>
              <a:latin typeface="Arial" panose="020B0604020202020204" pitchFamily="34" charset="0"/>
            </a:endParaRPr>
          </a:p>
          <a:p>
            <a:pPr>
              <a:buNone/>
            </a:pPr>
            <a:endParaRPr lang="en-US" sz="2000" b="1" dirty="0">
              <a:latin typeface="Arial" panose="020B0604020202020204" pitchFamily="34" charset="0"/>
            </a:endParaRPr>
          </a:p>
        </p:txBody>
      </p:sp>
      <p:pic>
        <p:nvPicPr>
          <p:cNvPr id="5" name="Picture 4">
            <a:extLst>
              <a:ext uri="{FF2B5EF4-FFF2-40B4-BE49-F238E27FC236}">
                <a16:creationId xmlns:a16="http://schemas.microsoft.com/office/drawing/2014/main" id="{E16A21C2-5483-7C8F-C565-055E70683234}"/>
              </a:ext>
            </a:extLst>
          </p:cNvPr>
          <p:cNvPicPr>
            <a:picLocks noChangeAspect="1"/>
          </p:cNvPicPr>
          <p:nvPr/>
        </p:nvPicPr>
        <p:blipFill>
          <a:blip r:embed="rId2"/>
          <a:stretch>
            <a:fillRect/>
          </a:stretch>
        </p:blipFill>
        <p:spPr>
          <a:xfrm>
            <a:off x="1862201" y="1917805"/>
            <a:ext cx="3877216" cy="695422"/>
          </a:xfrm>
          <a:prstGeom prst="rect">
            <a:avLst/>
          </a:prstGeom>
        </p:spPr>
      </p:pic>
      <p:pic>
        <p:nvPicPr>
          <p:cNvPr id="7" name="Picture 6">
            <a:extLst>
              <a:ext uri="{FF2B5EF4-FFF2-40B4-BE49-F238E27FC236}">
                <a16:creationId xmlns:a16="http://schemas.microsoft.com/office/drawing/2014/main" id="{332C0245-7A89-332A-0B18-3FF0C01F2481}"/>
              </a:ext>
            </a:extLst>
          </p:cNvPr>
          <p:cNvPicPr>
            <a:picLocks noChangeAspect="1"/>
          </p:cNvPicPr>
          <p:nvPr/>
        </p:nvPicPr>
        <p:blipFill>
          <a:blip r:embed="rId3"/>
          <a:stretch>
            <a:fillRect/>
          </a:stretch>
        </p:blipFill>
        <p:spPr>
          <a:xfrm>
            <a:off x="1980188" y="3196479"/>
            <a:ext cx="3351376" cy="1381318"/>
          </a:xfrm>
          <a:prstGeom prst="rect">
            <a:avLst/>
          </a:prstGeom>
        </p:spPr>
      </p:pic>
    </p:spTree>
    <p:extLst>
      <p:ext uri="{BB962C8B-B14F-4D97-AF65-F5344CB8AC3E}">
        <p14:creationId xmlns:p14="http://schemas.microsoft.com/office/powerpoint/2010/main" val="30906089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39EABBE-BAC3-B14C-42A6-7CA66966013D}"/>
              </a:ext>
            </a:extLst>
          </p:cNvPr>
          <p:cNvSpPr txBox="1"/>
          <p:nvPr/>
        </p:nvSpPr>
        <p:spPr>
          <a:xfrm>
            <a:off x="670560" y="653832"/>
            <a:ext cx="10403840" cy="7171194"/>
          </a:xfrm>
          <a:prstGeom prst="rect">
            <a:avLst/>
          </a:prstGeom>
          <a:noFill/>
        </p:spPr>
        <p:txBody>
          <a:bodyPr wrap="square">
            <a:spAutoFit/>
          </a:bodyPr>
          <a:lstStyle/>
          <a:p>
            <a:r>
              <a:rPr lang="en-IN" sz="2000" b="1" dirty="0"/>
              <a:t>2. Which positions require the most qualifications?                  Output:</a:t>
            </a:r>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pPr>
              <a:lnSpc>
                <a:spcPct val="150000"/>
              </a:lnSpc>
            </a:pPr>
            <a:r>
              <a:rPr lang="en-IN" sz="2000" b="1" dirty="0"/>
              <a:t>Observation: </a:t>
            </a:r>
            <a:r>
              <a:rPr lang="en-US" sz="2000" dirty="0"/>
              <a:t>All positions have the same number of </a:t>
            </a:r>
          </a:p>
          <a:p>
            <a:pPr>
              <a:lnSpc>
                <a:spcPct val="150000"/>
              </a:lnSpc>
            </a:pPr>
            <a:r>
              <a:rPr lang="en-US" sz="2000" dirty="0"/>
              <a:t>qualifications (1), indicating uniform qualification requirements.</a:t>
            </a:r>
            <a:br>
              <a:rPr lang="en-US" sz="2000" dirty="0"/>
            </a:br>
            <a:r>
              <a:rPr lang="en-US" sz="2000" dirty="0"/>
              <a:t>There is no variation across different roles in terms of required</a:t>
            </a:r>
          </a:p>
          <a:p>
            <a:pPr>
              <a:lnSpc>
                <a:spcPct val="150000"/>
              </a:lnSpc>
            </a:pPr>
            <a:r>
              <a:rPr lang="en-US" sz="2000" dirty="0"/>
              <a:t> qualifications.</a:t>
            </a:r>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p:txBody>
      </p:sp>
      <p:pic>
        <p:nvPicPr>
          <p:cNvPr id="5" name="Picture 4">
            <a:extLst>
              <a:ext uri="{FF2B5EF4-FFF2-40B4-BE49-F238E27FC236}">
                <a16:creationId xmlns:a16="http://schemas.microsoft.com/office/drawing/2014/main" id="{28B5C727-BB14-66DD-A957-9E49A73CA07C}"/>
              </a:ext>
            </a:extLst>
          </p:cNvPr>
          <p:cNvPicPr>
            <a:picLocks noChangeAspect="1"/>
          </p:cNvPicPr>
          <p:nvPr/>
        </p:nvPicPr>
        <p:blipFill>
          <a:blip r:embed="rId2"/>
          <a:stretch>
            <a:fillRect/>
          </a:stretch>
        </p:blipFill>
        <p:spPr>
          <a:xfrm>
            <a:off x="1117600" y="1266523"/>
            <a:ext cx="6201640" cy="2162477"/>
          </a:xfrm>
          <a:prstGeom prst="rect">
            <a:avLst/>
          </a:prstGeom>
        </p:spPr>
      </p:pic>
      <p:pic>
        <p:nvPicPr>
          <p:cNvPr id="7" name="Picture 6">
            <a:extLst>
              <a:ext uri="{FF2B5EF4-FFF2-40B4-BE49-F238E27FC236}">
                <a16:creationId xmlns:a16="http://schemas.microsoft.com/office/drawing/2014/main" id="{008F364E-A269-24FA-C4EB-B98FF3A46474}"/>
              </a:ext>
            </a:extLst>
          </p:cNvPr>
          <p:cNvPicPr>
            <a:picLocks noChangeAspect="1"/>
          </p:cNvPicPr>
          <p:nvPr/>
        </p:nvPicPr>
        <p:blipFill>
          <a:blip r:embed="rId3"/>
          <a:stretch>
            <a:fillRect/>
          </a:stretch>
        </p:blipFill>
        <p:spPr>
          <a:xfrm>
            <a:off x="7893498" y="1266523"/>
            <a:ext cx="3372321" cy="4001058"/>
          </a:xfrm>
          <a:prstGeom prst="rect">
            <a:avLst/>
          </a:prstGeom>
        </p:spPr>
      </p:pic>
    </p:spTree>
    <p:extLst>
      <p:ext uri="{BB962C8B-B14F-4D97-AF65-F5344CB8AC3E}">
        <p14:creationId xmlns:p14="http://schemas.microsoft.com/office/powerpoint/2010/main" val="37431075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0B0F863-0464-FEE6-FC1A-429BBBC4E482}"/>
              </a:ext>
            </a:extLst>
          </p:cNvPr>
          <p:cNvSpPr txBox="1"/>
          <p:nvPr/>
        </p:nvSpPr>
        <p:spPr>
          <a:xfrm>
            <a:off x="528320" y="623352"/>
            <a:ext cx="10617200" cy="6555641"/>
          </a:xfrm>
          <a:prstGeom prst="rect">
            <a:avLst/>
          </a:prstGeom>
          <a:noFill/>
        </p:spPr>
        <p:txBody>
          <a:bodyPr wrap="square">
            <a:spAutoFit/>
          </a:bodyPr>
          <a:lstStyle/>
          <a:p>
            <a:r>
              <a:rPr lang="en-IN" sz="2000" b="1" dirty="0"/>
              <a:t>3. Which employees have the highest number of qualifications?               Output:</a:t>
            </a:r>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pPr>
              <a:lnSpc>
                <a:spcPct val="150000"/>
              </a:lnSpc>
            </a:pPr>
            <a:r>
              <a:rPr lang="en-IN" sz="2000" b="1" dirty="0"/>
              <a:t>Observation: </a:t>
            </a:r>
            <a:r>
              <a:rPr lang="en-US" sz="2000" dirty="0"/>
              <a:t>All employees have only one qualification, so there</a:t>
            </a:r>
          </a:p>
          <a:p>
            <a:pPr>
              <a:lnSpc>
                <a:spcPct val="150000"/>
              </a:lnSpc>
            </a:pPr>
            <a:r>
              <a:rPr lang="en-US" sz="2000" dirty="0"/>
              <a:t> is no difference between employees in terms of qualifications.</a:t>
            </a:r>
            <a:br>
              <a:rPr lang="en-US" sz="2000" dirty="0"/>
            </a:br>
            <a:r>
              <a:rPr lang="en-US" sz="2000" dirty="0"/>
              <a:t>This shows that every employee has a similar level of</a:t>
            </a:r>
          </a:p>
          <a:p>
            <a:pPr>
              <a:lnSpc>
                <a:spcPct val="150000"/>
              </a:lnSpc>
            </a:pPr>
            <a:r>
              <a:rPr lang="en-US" sz="2000" dirty="0"/>
              <a:t> qualification.</a:t>
            </a:r>
            <a:endParaRPr lang="en-IN" sz="2000" b="1" dirty="0"/>
          </a:p>
          <a:p>
            <a:endParaRPr lang="en-IN" sz="2000" b="1" dirty="0"/>
          </a:p>
          <a:p>
            <a:endParaRPr lang="en-IN" sz="2000" b="1" dirty="0"/>
          </a:p>
          <a:p>
            <a:endParaRPr lang="en-IN" sz="2000" b="1" dirty="0"/>
          </a:p>
          <a:p>
            <a:endParaRPr lang="en-IN" sz="2000" b="1" dirty="0"/>
          </a:p>
          <a:p>
            <a:endParaRPr lang="en-IN" sz="2000" b="1" dirty="0"/>
          </a:p>
        </p:txBody>
      </p:sp>
      <p:pic>
        <p:nvPicPr>
          <p:cNvPr id="4" name="Picture 3">
            <a:extLst>
              <a:ext uri="{FF2B5EF4-FFF2-40B4-BE49-F238E27FC236}">
                <a16:creationId xmlns:a16="http://schemas.microsoft.com/office/drawing/2014/main" id="{87837107-902B-1A3B-1B1F-5657F6044D4D}"/>
              </a:ext>
            </a:extLst>
          </p:cNvPr>
          <p:cNvPicPr>
            <a:picLocks noChangeAspect="1"/>
          </p:cNvPicPr>
          <p:nvPr/>
        </p:nvPicPr>
        <p:blipFill>
          <a:blip r:embed="rId2"/>
          <a:stretch>
            <a:fillRect/>
          </a:stretch>
        </p:blipFill>
        <p:spPr>
          <a:xfrm>
            <a:off x="1332301" y="1132669"/>
            <a:ext cx="3982006" cy="2152950"/>
          </a:xfrm>
          <a:prstGeom prst="rect">
            <a:avLst/>
          </a:prstGeom>
        </p:spPr>
      </p:pic>
      <p:pic>
        <p:nvPicPr>
          <p:cNvPr id="6" name="Picture 5">
            <a:extLst>
              <a:ext uri="{FF2B5EF4-FFF2-40B4-BE49-F238E27FC236}">
                <a16:creationId xmlns:a16="http://schemas.microsoft.com/office/drawing/2014/main" id="{9EDE2429-2CBC-3612-FDC2-74D23AADDF3C}"/>
              </a:ext>
            </a:extLst>
          </p:cNvPr>
          <p:cNvPicPr>
            <a:picLocks noChangeAspect="1"/>
          </p:cNvPicPr>
          <p:nvPr/>
        </p:nvPicPr>
        <p:blipFill>
          <a:blip r:embed="rId3"/>
          <a:stretch>
            <a:fillRect/>
          </a:stretch>
        </p:blipFill>
        <p:spPr>
          <a:xfrm>
            <a:off x="8055771" y="1217890"/>
            <a:ext cx="3258005" cy="3620005"/>
          </a:xfrm>
          <a:prstGeom prst="rect">
            <a:avLst/>
          </a:prstGeom>
        </p:spPr>
      </p:pic>
    </p:spTree>
    <p:extLst>
      <p:ext uri="{BB962C8B-B14F-4D97-AF65-F5344CB8AC3E}">
        <p14:creationId xmlns:p14="http://schemas.microsoft.com/office/powerpoint/2010/main" val="36178508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CC57CDD-4CCA-270D-3F14-68E81F9AFAB9}"/>
              </a:ext>
            </a:extLst>
          </p:cNvPr>
          <p:cNvSpPr txBox="1"/>
          <p:nvPr/>
        </p:nvSpPr>
        <p:spPr>
          <a:xfrm>
            <a:off x="678426" y="426648"/>
            <a:ext cx="11120284" cy="7786747"/>
          </a:xfrm>
          <a:prstGeom prst="rect">
            <a:avLst/>
          </a:prstGeom>
          <a:noFill/>
        </p:spPr>
        <p:txBody>
          <a:bodyPr wrap="square">
            <a:spAutoFit/>
          </a:bodyPr>
          <a:lstStyle/>
          <a:p>
            <a:pPr>
              <a:lnSpc>
                <a:spcPct val="150000"/>
              </a:lnSpc>
            </a:pPr>
            <a:r>
              <a:rPr lang="en-IN" sz="2000" b="1" dirty="0"/>
              <a:t>4. Leave and absence patterns</a:t>
            </a:r>
          </a:p>
          <a:p>
            <a:pPr>
              <a:lnSpc>
                <a:spcPct val="150000"/>
              </a:lnSpc>
            </a:pPr>
            <a:r>
              <a:rPr lang="en-IN" sz="2000" b="1" dirty="0"/>
              <a:t>1. Which year had the most employees taking leaves?                            Output:</a:t>
            </a:r>
          </a:p>
          <a:p>
            <a:pPr marL="457200" indent="-457200">
              <a:lnSpc>
                <a:spcPct val="150000"/>
              </a:lnSpc>
              <a:buAutoNum type="arabicPeriod"/>
            </a:pPr>
            <a:endParaRPr lang="en-IN" sz="2000" b="1" dirty="0"/>
          </a:p>
          <a:p>
            <a:pPr marL="457200" indent="-457200">
              <a:buAutoNum type="arabicPeriod"/>
            </a:pPr>
            <a:endParaRPr lang="en-IN" sz="2000" b="1" dirty="0"/>
          </a:p>
          <a:p>
            <a:pPr marL="457200" indent="-457200">
              <a:buAutoNum type="arabicPeriod"/>
            </a:pPr>
            <a:endParaRPr lang="en-IN" sz="2000" b="1" dirty="0"/>
          </a:p>
          <a:p>
            <a:pPr marL="457200" indent="-457200">
              <a:buAutoNum type="arabicPeriod"/>
            </a:pPr>
            <a:endParaRPr lang="en-IN" sz="2000" b="1" dirty="0"/>
          </a:p>
          <a:p>
            <a:pPr marL="457200" indent="-457200">
              <a:buAutoNum type="arabicPeriod"/>
            </a:pPr>
            <a:endParaRPr lang="en-IN" sz="2000" b="1" dirty="0"/>
          </a:p>
          <a:p>
            <a:pPr marL="457200" indent="-457200">
              <a:buAutoNum type="arabicPeriod"/>
            </a:pPr>
            <a:endParaRPr lang="en-IN" sz="2000" b="1" dirty="0"/>
          </a:p>
          <a:p>
            <a:pPr marL="457200" indent="-457200">
              <a:buAutoNum type="arabicPeriod"/>
            </a:pPr>
            <a:endParaRPr lang="en-IN" sz="2000" b="1" dirty="0"/>
          </a:p>
          <a:p>
            <a:pPr marL="457200" indent="-457200">
              <a:buAutoNum type="arabicPeriod"/>
            </a:pPr>
            <a:endParaRPr lang="en-IN" sz="2000" b="1" dirty="0"/>
          </a:p>
          <a:p>
            <a:pPr>
              <a:lnSpc>
                <a:spcPct val="150000"/>
              </a:lnSpc>
            </a:pPr>
            <a:r>
              <a:rPr lang="en-IN" sz="2000" b="1" dirty="0"/>
              <a:t> Observation: </a:t>
            </a:r>
            <a:r>
              <a:rPr lang="en-US" sz="2000" dirty="0"/>
              <a:t>All 60 employees have taken leaves in the year 2024, which means every employee has at least one leave record in that year.</a:t>
            </a:r>
            <a:br>
              <a:rPr lang="en-US" sz="2000" dirty="0"/>
            </a:br>
            <a:r>
              <a:rPr lang="en-US" sz="2000" dirty="0"/>
              <a:t>There is no data for other years, so comparison between years is not possible.</a:t>
            </a:r>
            <a:br>
              <a:rPr lang="en-US" sz="2000" dirty="0"/>
            </a:br>
            <a:r>
              <a:rPr lang="en-US" sz="2000" dirty="0"/>
              <a:t>This shows that the dataset contains leave records only for one year.</a:t>
            </a:r>
          </a:p>
          <a:p>
            <a:pPr>
              <a:lnSpc>
                <a:spcPct val="150000"/>
              </a:lnSpc>
            </a:pPr>
            <a:endParaRPr lang="en-IN" sz="2000" b="1" dirty="0"/>
          </a:p>
          <a:p>
            <a:pPr marL="457200" indent="-457200">
              <a:buAutoNum type="arabicPeriod"/>
            </a:pPr>
            <a:endParaRPr lang="en-IN" sz="2000" b="1" dirty="0"/>
          </a:p>
          <a:p>
            <a:pPr marL="457200" indent="-457200">
              <a:buAutoNum type="arabicPeriod"/>
            </a:pPr>
            <a:endParaRPr lang="en-IN" sz="2000" b="1" dirty="0"/>
          </a:p>
          <a:p>
            <a:pPr marL="457200" indent="-457200">
              <a:buAutoNum type="arabicPeriod"/>
            </a:pPr>
            <a:endParaRPr lang="en-IN" sz="2000" b="1" dirty="0"/>
          </a:p>
          <a:p>
            <a:pPr marL="457200" indent="-457200">
              <a:buAutoNum type="arabicPeriod"/>
            </a:pPr>
            <a:endParaRPr lang="en-IN" sz="2000" b="1" dirty="0"/>
          </a:p>
          <a:p>
            <a:pPr marL="457200" indent="-457200">
              <a:buAutoNum type="arabicPeriod"/>
            </a:pPr>
            <a:endParaRPr lang="en-IN" sz="2000" b="1" dirty="0"/>
          </a:p>
          <a:p>
            <a:pPr marL="457200" indent="-457200">
              <a:buAutoNum type="arabicPeriod"/>
            </a:pPr>
            <a:endParaRPr lang="en-IN" sz="2000" b="1" dirty="0"/>
          </a:p>
        </p:txBody>
      </p:sp>
      <p:pic>
        <p:nvPicPr>
          <p:cNvPr id="7" name="Picture 6">
            <a:extLst>
              <a:ext uri="{FF2B5EF4-FFF2-40B4-BE49-F238E27FC236}">
                <a16:creationId xmlns:a16="http://schemas.microsoft.com/office/drawing/2014/main" id="{CAFEE36D-9674-D563-A56D-D67E9ABF82F9}"/>
              </a:ext>
            </a:extLst>
          </p:cNvPr>
          <p:cNvPicPr>
            <a:picLocks noChangeAspect="1"/>
          </p:cNvPicPr>
          <p:nvPr/>
        </p:nvPicPr>
        <p:blipFill>
          <a:blip r:embed="rId2"/>
          <a:stretch>
            <a:fillRect/>
          </a:stretch>
        </p:blipFill>
        <p:spPr>
          <a:xfrm>
            <a:off x="1175519" y="1669619"/>
            <a:ext cx="4763165" cy="1486107"/>
          </a:xfrm>
          <a:prstGeom prst="rect">
            <a:avLst/>
          </a:prstGeom>
        </p:spPr>
      </p:pic>
      <p:pic>
        <p:nvPicPr>
          <p:cNvPr id="9" name="Picture 8">
            <a:extLst>
              <a:ext uri="{FF2B5EF4-FFF2-40B4-BE49-F238E27FC236}">
                <a16:creationId xmlns:a16="http://schemas.microsoft.com/office/drawing/2014/main" id="{74E98F7D-9551-518F-8F19-7759829A59FD}"/>
              </a:ext>
            </a:extLst>
          </p:cNvPr>
          <p:cNvPicPr>
            <a:picLocks noChangeAspect="1"/>
          </p:cNvPicPr>
          <p:nvPr/>
        </p:nvPicPr>
        <p:blipFill>
          <a:blip r:embed="rId3"/>
          <a:stretch>
            <a:fillRect/>
          </a:stretch>
        </p:blipFill>
        <p:spPr>
          <a:xfrm>
            <a:off x="8263975" y="1481712"/>
            <a:ext cx="3324689" cy="1190368"/>
          </a:xfrm>
          <a:prstGeom prst="rect">
            <a:avLst/>
          </a:prstGeom>
        </p:spPr>
      </p:pic>
    </p:spTree>
    <p:extLst>
      <p:ext uri="{BB962C8B-B14F-4D97-AF65-F5344CB8AC3E}">
        <p14:creationId xmlns:p14="http://schemas.microsoft.com/office/powerpoint/2010/main" val="6481375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D878885-0CB7-8AC1-C808-7AFBEC29D0E1}"/>
              </a:ext>
            </a:extLst>
          </p:cNvPr>
          <p:cNvSpPr txBox="1"/>
          <p:nvPr/>
        </p:nvSpPr>
        <p:spPr>
          <a:xfrm>
            <a:off x="538480" y="474990"/>
            <a:ext cx="10393680" cy="8094524"/>
          </a:xfrm>
          <a:prstGeom prst="rect">
            <a:avLst/>
          </a:prstGeom>
          <a:noFill/>
        </p:spPr>
        <p:txBody>
          <a:bodyPr wrap="square">
            <a:spAutoFit/>
          </a:bodyPr>
          <a:lstStyle/>
          <a:p>
            <a:pPr>
              <a:lnSpc>
                <a:spcPct val="150000"/>
              </a:lnSpc>
            </a:pPr>
            <a:r>
              <a:rPr lang="en-IN" sz="2000" b="1" dirty="0"/>
              <a:t>2. What is the average number of leave days taken by its employees per department?                                                                                               Output:</a:t>
            </a:r>
          </a:p>
          <a:p>
            <a:pPr>
              <a:lnSpc>
                <a:spcPct val="150000"/>
              </a:lnSpc>
            </a:pPr>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pPr>
              <a:lnSpc>
                <a:spcPct val="150000"/>
              </a:lnSpc>
            </a:pPr>
            <a:r>
              <a:rPr lang="en-IN" sz="2000" b="1" dirty="0"/>
              <a:t>Observations: </a:t>
            </a:r>
            <a:r>
              <a:rPr lang="en-US" sz="2000" dirty="0"/>
              <a:t>The average number of leaves per employee is 1 in all departments, which means every employee has taken only one leave.</a:t>
            </a:r>
            <a:br>
              <a:rPr lang="en-US" sz="2000" dirty="0"/>
            </a:br>
            <a:r>
              <a:rPr lang="en-US" sz="2000" dirty="0"/>
              <a:t>There is no difference in leave patterns between departments.</a:t>
            </a:r>
            <a:br>
              <a:rPr lang="en-US" sz="2000" dirty="0"/>
            </a:br>
            <a:r>
              <a:rPr lang="en-US" sz="2000" dirty="0"/>
              <a:t>This shows that employee leave behavior is uniform across the organization.</a:t>
            </a:r>
            <a:endParaRPr lang="en-IN" sz="2000" b="1" dirty="0"/>
          </a:p>
          <a:p>
            <a:pPr>
              <a:lnSpc>
                <a:spcPct val="150000"/>
              </a:lnSpc>
            </a:pPr>
            <a:endParaRPr lang="en-IN" sz="2000" b="1" dirty="0"/>
          </a:p>
          <a:p>
            <a:endParaRPr lang="en-IN" sz="2000" b="1" dirty="0"/>
          </a:p>
          <a:p>
            <a:endParaRPr lang="en-IN" sz="2000" b="1" dirty="0"/>
          </a:p>
          <a:p>
            <a:endParaRPr lang="en-IN" sz="2000" b="1" dirty="0"/>
          </a:p>
          <a:p>
            <a:endParaRPr lang="en-IN" sz="2000" b="1" dirty="0"/>
          </a:p>
          <a:p>
            <a:endParaRPr lang="en-IN" sz="2000" b="1" dirty="0"/>
          </a:p>
        </p:txBody>
      </p:sp>
      <p:pic>
        <p:nvPicPr>
          <p:cNvPr id="7" name="Picture 6">
            <a:extLst>
              <a:ext uri="{FF2B5EF4-FFF2-40B4-BE49-F238E27FC236}">
                <a16:creationId xmlns:a16="http://schemas.microsoft.com/office/drawing/2014/main" id="{99ECDF77-2D73-4A66-D9C3-C9EEFCF0C251}"/>
              </a:ext>
            </a:extLst>
          </p:cNvPr>
          <p:cNvPicPr>
            <a:picLocks noChangeAspect="1"/>
          </p:cNvPicPr>
          <p:nvPr/>
        </p:nvPicPr>
        <p:blipFill>
          <a:blip r:embed="rId2"/>
          <a:stretch>
            <a:fillRect/>
          </a:stretch>
        </p:blipFill>
        <p:spPr>
          <a:xfrm>
            <a:off x="8538410" y="1542258"/>
            <a:ext cx="3115110" cy="2467319"/>
          </a:xfrm>
          <a:prstGeom prst="rect">
            <a:avLst/>
          </a:prstGeom>
        </p:spPr>
      </p:pic>
      <p:pic>
        <p:nvPicPr>
          <p:cNvPr id="4" name="Picture 3">
            <a:extLst>
              <a:ext uri="{FF2B5EF4-FFF2-40B4-BE49-F238E27FC236}">
                <a16:creationId xmlns:a16="http://schemas.microsoft.com/office/drawing/2014/main" id="{0A9C04AD-E898-06FB-5341-22CB9F0F928E}"/>
              </a:ext>
            </a:extLst>
          </p:cNvPr>
          <p:cNvPicPr>
            <a:picLocks noChangeAspect="1"/>
          </p:cNvPicPr>
          <p:nvPr/>
        </p:nvPicPr>
        <p:blipFill>
          <a:blip r:embed="rId3"/>
          <a:stretch>
            <a:fillRect/>
          </a:stretch>
        </p:blipFill>
        <p:spPr>
          <a:xfrm>
            <a:off x="538480" y="1542258"/>
            <a:ext cx="7773485" cy="2305372"/>
          </a:xfrm>
          <a:prstGeom prst="rect">
            <a:avLst/>
          </a:prstGeom>
        </p:spPr>
      </p:pic>
    </p:spTree>
    <p:extLst>
      <p:ext uri="{BB962C8B-B14F-4D97-AF65-F5344CB8AC3E}">
        <p14:creationId xmlns:p14="http://schemas.microsoft.com/office/powerpoint/2010/main" val="33708247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356F1F4-53D4-78DF-CCE8-57EBD8566C35}"/>
              </a:ext>
            </a:extLst>
          </p:cNvPr>
          <p:cNvSpPr txBox="1"/>
          <p:nvPr/>
        </p:nvSpPr>
        <p:spPr>
          <a:xfrm>
            <a:off x="751840" y="430312"/>
            <a:ext cx="10332720" cy="8094524"/>
          </a:xfrm>
          <a:prstGeom prst="rect">
            <a:avLst/>
          </a:prstGeom>
          <a:noFill/>
        </p:spPr>
        <p:txBody>
          <a:bodyPr wrap="square">
            <a:spAutoFit/>
          </a:bodyPr>
          <a:lstStyle/>
          <a:p>
            <a:r>
              <a:rPr lang="en-IN" sz="2000" b="1" dirty="0"/>
              <a:t>3. Which employees have taken the most leaves?                           Output:</a:t>
            </a:r>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pPr>
              <a:lnSpc>
                <a:spcPct val="150000"/>
              </a:lnSpc>
            </a:pPr>
            <a:r>
              <a:rPr lang="en-IN" sz="2000" b="1" dirty="0"/>
              <a:t>Observation: </a:t>
            </a:r>
            <a:r>
              <a:rPr lang="en-US" sz="2000" dirty="0"/>
              <a:t>All employees have taken only one leave, so</a:t>
            </a:r>
          </a:p>
          <a:p>
            <a:pPr>
              <a:lnSpc>
                <a:spcPct val="150000"/>
              </a:lnSpc>
            </a:pPr>
            <a:r>
              <a:rPr lang="en-US" sz="2000" dirty="0"/>
              <a:t> there is no difference between employees in terms of leave count.</a:t>
            </a:r>
            <a:br>
              <a:rPr lang="en-US" sz="2000" dirty="0"/>
            </a:br>
            <a:r>
              <a:rPr lang="en-US" sz="2000" dirty="0"/>
              <a:t>No employee has taken more leaves than others.</a:t>
            </a:r>
            <a:br>
              <a:rPr lang="en-US" sz="2000" dirty="0"/>
            </a:br>
            <a:r>
              <a:rPr lang="en-US" sz="2000" dirty="0"/>
              <a:t>This shows that leave distribution is equal among all employees.</a:t>
            </a:r>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p:txBody>
      </p:sp>
      <p:pic>
        <p:nvPicPr>
          <p:cNvPr id="5" name="Picture 4">
            <a:extLst>
              <a:ext uri="{FF2B5EF4-FFF2-40B4-BE49-F238E27FC236}">
                <a16:creationId xmlns:a16="http://schemas.microsoft.com/office/drawing/2014/main" id="{C13F2AD7-BAC0-C8A4-7645-16A905ACCE16}"/>
              </a:ext>
            </a:extLst>
          </p:cNvPr>
          <p:cNvPicPr>
            <a:picLocks noChangeAspect="1"/>
          </p:cNvPicPr>
          <p:nvPr/>
        </p:nvPicPr>
        <p:blipFill>
          <a:blip r:embed="rId2"/>
          <a:stretch>
            <a:fillRect/>
          </a:stretch>
        </p:blipFill>
        <p:spPr>
          <a:xfrm>
            <a:off x="1194125" y="1090741"/>
            <a:ext cx="4439270" cy="2705478"/>
          </a:xfrm>
          <a:prstGeom prst="rect">
            <a:avLst/>
          </a:prstGeom>
        </p:spPr>
      </p:pic>
      <p:pic>
        <p:nvPicPr>
          <p:cNvPr id="7" name="Picture 6">
            <a:extLst>
              <a:ext uri="{FF2B5EF4-FFF2-40B4-BE49-F238E27FC236}">
                <a16:creationId xmlns:a16="http://schemas.microsoft.com/office/drawing/2014/main" id="{5CA784EF-04AD-6C81-C61A-27E0695FC558}"/>
              </a:ext>
            </a:extLst>
          </p:cNvPr>
          <p:cNvPicPr>
            <a:picLocks noChangeAspect="1"/>
          </p:cNvPicPr>
          <p:nvPr/>
        </p:nvPicPr>
        <p:blipFill>
          <a:blip r:embed="rId3"/>
          <a:stretch>
            <a:fillRect/>
          </a:stretch>
        </p:blipFill>
        <p:spPr>
          <a:xfrm>
            <a:off x="8092345" y="1019621"/>
            <a:ext cx="2905530" cy="3439005"/>
          </a:xfrm>
          <a:prstGeom prst="rect">
            <a:avLst/>
          </a:prstGeom>
        </p:spPr>
      </p:pic>
    </p:spTree>
    <p:extLst>
      <p:ext uri="{BB962C8B-B14F-4D97-AF65-F5344CB8AC3E}">
        <p14:creationId xmlns:p14="http://schemas.microsoft.com/office/powerpoint/2010/main" val="30012657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899ECE4-B08B-91EA-044C-ADF4250BFB45}"/>
              </a:ext>
            </a:extLst>
          </p:cNvPr>
          <p:cNvSpPr txBox="1"/>
          <p:nvPr/>
        </p:nvSpPr>
        <p:spPr>
          <a:xfrm>
            <a:off x="558800" y="409992"/>
            <a:ext cx="10627360" cy="7017306"/>
          </a:xfrm>
          <a:prstGeom prst="rect">
            <a:avLst/>
          </a:prstGeom>
          <a:noFill/>
        </p:spPr>
        <p:txBody>
          <a:bodyPr wrap="square">
            <a:spAutoFit/>
          </a:bodyPr>
          <a:lstStyle/>
          <a:p>
            <a:r>
              <a:rPr lang="en-IN" sz="2000" b="1" dirty="0"/>
              <a:t>4.What is the total number of leave days taken company-wide?</a:t>
            </a:r>
          </a:p>
          <a:p>
            <a:endParaRPr lang="en-IN" sz="2000" b="1" dirty="0"/>
          </a:p>
          <a:p>
            <a:endParaRPr lang="en-IN" sz="2000" b="1" dirty="0"/>
          </a:p>
          <a:p>
            <a:endParaRPr lang="en-IN" sz="2000" b="1" dirty="0"/>
          </a:p>
          <a:p>
            <a:endParaRPr lang="en-IN" sz="2000" b="1" dirty="0"/>
          </a:p>
          <a:p>
            <a:r>
              <a:rPr lang="en-IN" sz="2000" b="1" dirty="0"/>
              <a:t>Output:</a:t>
            </a:r>
          </a:p>
          <a:p>
            <a:endParaRPr lang="en-IN" sz="2000" b="1" dirty="0"/>
          </a:p>
          <a:p>
            <a:endParaRPr lang="en-IN" sz="2000" b="1" dirty="0"/>
          </a:p>
          <a:p>
            <a:endParaRPr lang="en-IN" sz="2000" b="1" dirty="0"/>
          </a:p>
          <a:p>
            <a:endParaRPr lang="en-IN" sz="2000" b="1" dirty="0"/>
          </a:p>
          <a:p>
            <a:endParaRPr lang="en-IN" sz="2000" b="1" dirty="0"/>
          </a:p>
          <a:p>
            <a:endParaRPr lang="en-IN" sz="2000" b="1" dirty="0"/>
          </a:p>
          <a:p>
            <a:pPr>
              <a:lnSpc>
                <a:spcPct val="150000"/>
              </a:lnSpc>
            </a:pPr>
            <a:r>
              <a:rPr lang="en-IN" sz="2000" b="1" dirty="0"/>
              <a:t>Observation: </a:t>
            </a:r>
            <a:r>
              <a:rPr lang="en-US" sz="2000" dirty="0"/>
              <a:t>The total leave count in the company is 60, indicating one leave per employee.</a:t>
            </a:r>
            <a:br>
              <a:rPr lang="en-US" sz="2000" dirty="0"/>
            </a:br>
            <a:r>
              <a:rPr lang="en-US" sz="2000" dirty="0"/>
              <a:t>This shows uniform leave usage across the organization.</a:t>
            </a:r>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p:txBody>
      </p:sp>
      <p:pic>
        <p:nvPicPr>
          <p:cNvPr id="5" name="Picture 4">
            <a:extLst>
              <a:ext uri="{FF2B5EF4-FFF2-40B4-BE49-F238E27FC236}">
                <a16:creationId xmlns:a16="http://schemas.microsoft.com/office/drawing/2014/main" id="{EEAE8C40-DC47-765C-F37D-F22A12BA71D2}"/>
              </a:ext>
            </a:extLst>
          </p:cNvPr>
          <p:cNvPicPr>
            <a:picLocks noChangeAspect="1"/>
          </p:cNvPicPr>
          <p:nvPr/>
        </p:nvPicPr>
        <p:blipFill>
          <a:blip r:embed="rId2"/>
          <a:stretch>
            <a:fillRect/>
          </a:stretch>
        </p:blipFill>
        <p:spPr>
          <a:xfrm>
            <a:off x="1116035" y="1166446"/>
            <a:ext cx="4229690" cy="704948"/>
          </a:xfrm>
          <a:prstGeom prst="rect">
            <a:avLst/>
          </a:prstGeom>
        </p:spPr>
      </p:pic>
      <p:pic>
        <p:nvPicPr>
          <p:cNvPr id="7" name="Picture 6">
            <a:extLst>
              <a:ext uri="{FF2B5EF4-FFF2-40B4-BE49-F238E27FC236}">
                <a16:creationId xmlns:a16="http://schemas.microsoft.com/office/drawing/2014/main" id="{8801515C-44BA-1799-986E-F717D034A5E9}"/>
              </a:ext>
            </a:extLst>
          </p:cNvPr>
          <p:cNvPicPr>
            <a:picLocks noChangeAspect="1"/>
          </p:cNvPicPr>
          <p:nvPr/>
        </p:nvPicPr>
        <p:blipFill>
          <a:blip r:embed="rId3"/>
          <a:stretch>
            <a:fillRect/>
          </a:stretch>
        </p:blipFill>
        <p:spPr>
          <a:xfrm>
            <a:off x="1223486" y="2446498"/>
            <a:ext cx="2881153" cy="1515902"/>
          </a:xfrm>
          <a:prstGeom prst="rect">
            <a:avLst/>
          </a:prstGeom>
        </p:spPr>
      </p:pic>
    </p:spTree>
    <p:extLst>
      <p:ext uri="{BB962C8B-B14F-4D97-AF65-F5344CB8AC3E}">
        <p14:creationId xmlns:p14="http://schemas.microsoft.com/office/powerpoint/2010/main" val="35243021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22E2D8B-6278-3144-383B-3557B5F3F535}"/>
              </a:ext>
            </a:extLst>
          </p:cNvPr>
          <p:cNvSpPr txBox="1"/>
          <p:nvPr/>
        </p:nvSpPr>
        <p:spPr>
          <a:xfrm>
            <a:off x="568960" y="338872"/>
            <a:ext cx="10220960" cy="7478970"/>
          </a:xfrm>
          <a:prstGeom prst="rect">
            <a:avLst/>
          </a:prstGeom>
          <a:noFill/>
        </p:spPr>
        <p:txBody>
          <a:bodyPr wrap="square">
            <a:spAutoFit/>
          </a:bodyPr>
          <a:lstStyle/>
          <a:p>
            <a:r>
              <a:rPr lang="en-IN" sz="2000" b="1" dirty="0"/>
              <a:t>5.How do leave days correlate with payroll amounts?                   Output:</a:t>
            </a:r>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pPr>
              <a:lnSpc>
                <a:spcPct val="150000"/>
              </a:lnSpc>
            </a:pPr>
            <a:r>
              <a:rPr lang="en-IN" sz="2000" b="1" dirty="0"/>
              <a:t>Observation: </a:t>
            </a:r>
            <a:r>
              <a:rPr lang="en-US" sz="2000" dirty="0"/>
              <a:t>Although all employees have the same number of leaves, their payroll amounts vary significantly.</a:t>
            </a:r>
            <a:br>
              <a:rPr lang="en-US" sz="2000" dirty="0"/>
            </a:br>
            <a:r>
              <a:rPr lang="en-US" sz="2000" dirty="0"/>
              <a:t>This indicates that leave does not strongly affect payroll in this dataset.</a:t>
            </a:r>
            <a:br>
              <a:rPr lang="en-US" sz="2000" dirty="0"/>
            </a:br>
            <a:endParaRPr lang="en-IN" sz="2000" b="1" dirty="0"/>
          </a:p>
          <a:p>
            <a:endParaRPr lang="en-IN" sz="2000" b="1" dirty="0"/>
          </a:p>
          <a:p>
            <a:endParaRPr lang="en-IN" sz="2000" b="1" dirty="0"/>
          </a:p>
          <a:p>
            <a:endParaRPr lang="en-IN" sz="2000" b="1" dirty="0"/>
          </a:p>
          <a:p>
            <a:endParaRPr lang="en-IN" sz="2000" b="1" dirty="0"/>
          </a:p>
        </p:txBody>
      </p:sp>
      <p:pic>
        <p:nvPicPr>
          <p:cNvPr id="5" name="Picture 4">
            <a:extLst>
              <a:ext uri="{FF2B5EF4-FFF2-40B4-BE49-F238E27FC236}">
                <a16:creationId xmlns:a16="http://schemas.microsoft.com/office/drawing/2014/main" id="{614611BE-EDD4-B29A-3009-EDC54639D151}"/>
              </a:ext>
            </a:extLst>
          </p:cNvPr>
          <p:cNvPicPr>
            <a:picLocks noChangeAspect="1"/>
          </p:cNvPicPr>
          <p:nvPr/>
        </p:nvPicPr>
        <p:blipFill>
          <a:blip r:embed="rId2"/>
          <a:stretch>
            <a:fillRect/>
          </a:stretch>
        </p:blipFill>
        <p:spPr>
          <a:xfrm>
            <a:off x="1402080" y="867200"/>
            <a:ext cx="5315692" cy="3010320"/>
          </a:xfrm>
          <a:prstGeom prst="rect">
            <a:avLst/>
          </a:prstGeom>
        </p:spPr>
      </p:pic>
      <p:pic>
        <p:nvPicPr>
          <p:cNvPr id="7" name="Picture 6">
            <a:extLst>
              <a:ext uri="{FF2B5EF4-FFF2-40B4-BE49-F238E27FC236}">
                <a16:creationId xmlns:a16="http://schemas.microsoft.com/office/drawing/2014/main" id="{A9EB67B1-37A7-ED22-CA10-B0F85E5D0BE5}"/>
              </a:ext>
            </a:extLst>
          </p:cNvPr>
          <p:cNvPicPr>
            <a:picLocks noChangeAspect="1"/>
          </p:cNvPicPr>
          <p:nvPr/>
        </p:nvPicPr>
        <p:blipFill>
          <a:blip r:embed="rId3"/>
          <a:stretch>
            <a:fillRect/>
          </a:stretch>
        </p:blipFill>
        <p:spPr>
          <a:xfrm>
            <a:off x="7828975" y="867200"/>
            <a:ext cx="3686689" cy="3467584"/>
          </a:xfrm>
          <a:prstGeom prst="rect">
            <a:avLst/>
          </a:prstGeom>
        </p:spPr>
      </p:pic>
    </p:spTree>
    <p:extLst>
      <p:ext uri="{BB962C8B-B14F-4D97-AF65-F5344CB8AC3E}">
        <p14:creationId xmlns:p14="http://schemas.microsoft.com/office/powerpoint/2010/main" val="21829731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6D7B28B-C549-BB4E-B377-D566F33C091C}"/>
              </a:ext>
            </a:extLst>
          </p:cNvPr>
          <p:cNvSpPr txBox="1"/>
          <p:nvPr/>
        </p:nvSpPr>
        <p:spPr>
          <a:xfrm>
            <a:off x="589280" y="322590"/>
            <a:ext cx="11115040" cy="6863417"/>
          </a:xfrm>
          <a:prstGeom prst="rect">
            <a:avLst/>
          </a:prstGeom>
          <a:noFill/>
        </p:spPr>
        <p:txBody>
          <a:bodyPr wrap="square">
            <a:spAutoFit/>
          </a:bodyPr>
          <a:lstStyle/>
          <a:p>
            <a:pPr>
              <a:lnSpc>
                <a:spcPct val="150000"/>
              </a:lnSpc>
            </a:pPr>
            <a:r>
              <a:rPr lang="en-IN" sz="2000" b="1" dirty="0"/>
              <a:t>5. Payroll and compensation analysis</a:t>
            </a:r>
          </a:p>
          <a:p>
            <a:pPr marL="457200" indent="-457200">
              <a:lnSpc>
                <a:spcPct val="150000"/>
              </a:lnSpc>
              <a:buAutoNum type="arabicPeriod"/>
            </a:pPr>
            <a:r>
              <a:rPr lang="en-IN" sz="2000" b="1" dirty="0"/>
              <a:t>What is the total monthly payroll processed?                             Output:</a:t>
            </a:r>
          </a:p>
          <a:p>
            <a:pPr marL="457200" indent="-457200">
              <a:buAutoNum type="arabicPeriod"/>
            </a:pPr>
            <a:endParaRPr lang="en-IN" sz="2000" b="1" dirty="0"/>
          </a:p>
          <a:p>
            <a:pPr marL="457200" indent="-457200">
              <a:buAutoNum type="arabicPeriod"/>
            </a:pPr>
            <a:endParaRPr lang="en-IN" sz="2000" b="1" dirty="0"/>
          </a:p>
          <a:p>
            <a:pPr marL="457200" indent="-457200">
              <a:buAutoNum type="arabicPeriod"/>
            </a:pPr>
            <a:endParaRPr lang="en-IN" sz="2000" b="1" dirty="0"/>
          </a:p>
          <a:p>
            <a:endParaRPr lang="en-IN" sz="2000" b="1" dirty="0"/>
          </a:p>
          <a:p>
            <a:pPr marL="457200" indent="-457200">
              <a:buAutoNum type="arabicPeriod"/>
            </a:pPr>
            <a:endParaRPr lang="en-IN" sz="2000" b="1" dirty="0"/>
          </a:p>
          <a:p>
            <a:pPr marL="457200" indent="-457200">
              <a:buAutoNum type="arabicPeriod"/>
            </a:pPr>
            <a:endParaRPr lang="en-IN" sz="2000" b="1" dirty="0"/>
          </a:p>
          <a:p>
            <a:pPr marL="457200" indent="-457200">
              <a:buAutoNum type="arabicPeriod"/>
            </a:pPr>
            <a:endParaRPr lang="en-IN" sz="2000" b="1" dirty="0"/>
          </a:p>
          <a:p>
            <a:pPr marL="457200" indent="-457200">
              <a:buAutoNum type="arabicPeriod"/>
            </a:pPr>
            <a:endParaRPr lang="en-IN" sz="2000" b="1" dirty="0"/>
          </a:p>
          <a:p>
            <a:pPr marL="457200" indent="-457200">
              <a:buAutoNum type="arabicPeriod"/>
            </a:pPr>
            <a:endParaRPr lang="en-IN" sz="2000" b="1" dirty="0"/>
          </a:p>
          <a:p>
            <a:pPr>
              <a:lnSpc>
                <a:spcPct val="150000"/>
              </a:lnSpc>
            </a:pPr>
            <a:r>
              <a:rPr lang="en-IN" sz="2000" b="1" dirty="0"/>
              <a:t>Observation: </a:t>
            </a:r>
            <a:r>
              <a:rPr lang="en-US" sz="2000" dirty="0"/>
              <a:t>The total payroll processed in April 2024 is 2,778,000, which shows the total salary paid to all employees for that month.</a:t>
            </a:r>
            <a:endParaRPr lang="en-IN" sz="2000" b="1" dirty="0"/>
          </a:p>
          <a:p>
            <a:pPr marL="457200" indent="-457200">
              <a:buAutoNum type="arabicPeriod"/>
            </a:pPr>
            <a:endParaRPr lang="en-IN" sz="2000" b="1" dirty="0"/>
          </a:p>
          <a:p>
            <a:pPr marL="457200" indent="-457200">
              <a:buAutoNum type="arabicPeriod"/>
            </a:pPr>
            <a:endParaRPr lang="en-IN" sz="2000" b="1" dirty="0"/>
          </a:p>
          <a:p>
            <a:pPr marL="457200" indent="-457200">
              <a:buAutoNum type="arabicPeriod"/>
            </a:pPr>
            <a:endParaRPr lang="en-IN" sz="2000" b="1" dirty="0"/>
          </a:p>
          <a:p>
            <a:pPr marL="457200" indent="-457200">
              <a:buAutoNum type="arabicPeriod"/>
            </a:pPr>
            <a:endParaRPr lang="en-IN" sz="2000" b="1" dirty="0"/>
          </a:p>
          <a:p>
            <a:pPr marL="457200" indent="-457200">
              <a:buAutoNum type="arabicPeriod"/>
            </a:pPr>
            <a:endParaRPr lang="en-IN" sz="2000" b="1" dirty="0"/>
          </a:p>
          <a:p>
            <a:pPr marL="457200" indent="-457200">
              <a:buAutoNum type="arabicPeriod"/>
            </a:pPr>
            <a:endParaRPr lang="en-IN" sz="2000" b="1" dirty="0"/>
          </a:p>
          <a:p>
            <a:pPr marL="457200" indent="-457200">
              <a:buAutoNum type="arabicPeriod"/>
            </a:pPr>
            <a:endParaRPr lang="en-IN" sz="2000" b="1" dirty="0"/>
          </a:p>
        </p:txBody>
      </p:sp>
      <p:pic>
        <p:nvPicPr>
          <p:cNvPr id="5" name="Picture 4">
            <a:extLst>
              <a:ext uri="{FF2B5EF4-FFF2-40B4-BE49-F238E27FC236}">
                <a16:creationId xmlns:a16="http://schemas.microsoft.com/office/drawing/2014/main" id="{C1B8B6C4-B057-08D0-67A9-B586D2840E2D}"/>
              </a:ext>
            </a:extLst>
          </p:cNvPr>
          <p:cNvPicPr>
            <a:picLocks noChangeAspect="1"/>
          </p:cNvPicPr>
          <p:nvPr/>
        </p:nvPicPr>
        <p:blipFill>
          <a:blip r:embed="rId2"/>
          <a:stretch>
            <a:fillRect/>
          </a:stretch>
        </p:blipFill>
        <p:spPr>
          <a:xfrm>
            <a:off x="1238263" y="1604571"/>
            <a:ext cx="5534797" cy="2067213"/>
          </a:xfrm>
          <a:prstGeom prst="rect">
            <a:avLst/>
          </a:prstGeom>
        </p:spPr>
      </p:pic>
      <p:pic>
        <p:nvPicPr>
          <p:cNvPr id="7" name="Picture 6">
            <a:extLst>
              <a:ext uri="{FF2B5EF4-FFF2-40B4-BE49-F238E27FC236}">
                <a16:creationId xmlns:a16="http://schemas.microsoft.com/office/drawing/2014/main" id="{66F39630-6A8B-B23C-EB80-7F0AB9006CB3}"/>
              </a:ext>
            </a:extLst>
          </p:cNvPr>
          <p:cNvPicPr>
            <a:picLocks noChangeAspect="1"/>
          </p:cNvPicPr>
          <p:nvPr/>
        </p:nvPicPr>
        <p:blipFill>
          <a:blip r:embed="rId3"/>
          <a:stretch>
            <a:fillRect/>
          </a:stretch>
        </p:blipFill>
        <p:spPr>
          <a:xfrm>
            <a:off x="8152018" y="1507868"/>
            <a:ext cx="3210373" cy="1019317"/>
          </a:xfrm>
          <a:prstGeom prst="rect">
            <a:avLst/>
          </a:prstGeom>
        </p:spPr>
      </p:pic>
    </p:spTree>
    <p:extLst>
      <p:ext uri="{BB962C8B-B14F-4D97-AF65-F5344CB8AC3E}">
        <p14:creationId xmlns:p14="http://schemas.microsoft.com/office/powerpoint/2010/main" val="15135733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15D9126-780E-F688-7E1C-124F7F52FFA2}"/>
              </a:ext>
            </a:extLst>
          </p:cNvPr>
          <p:cNvSpPr txBox="1"/>
          <p:nvPr/>
        </p:nvSpPr>
        <p:spPr>
          <a:xfrm>
            <a:off x="599440" y="328712"/>
            <a:ext cx="10911840" cy="7632859"/>
          </a:xfrm>
          <a:prstGeom prst="rect">
            <a:avLst/>
          </a:prstGeom>
          <a:noFill/>
        </p:spPr>
        <p:txBody>
          <a:bodyPr wrap="square">
            <a:spAutoFit/>
          </a:bodyPr>
          <a:lstStyle/>
          <a:p>
            <a:r>
              <a:rPr lang="en-IN" sz="2000" b="1" dirty="0"/>
              <a:t>2.What is the average bonus given per department?                    Output:</a:t>
            </a:r>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pPr>
              <a:lnSpc>
                <a:spcPct val="150000"/>
              </a:lnSpc>
            </a:pPr>
            <a:r>
              <a:rPr lang="en-IN" sz="2000" b="1" dirty="0"/>
              <a:t>Observation: </a:t>
            </a:r>
            <a:r>
              <a:rPr lang="en-US" sz="2000" dirty="0"/>
              <a:t>The Legal department has the highest average</a:t>
            </a:r>
          </a:p>
          <a:p>
            <a:pPr>
              <a:lnSpc>
                <a:spcPct val="150000"/>
              </a:lnSpc>
            </a:pPr>
            <a:r>
              <a:rPr lang="en-US" sz="2000" dirty="0"/>
              <a:t> bonus (13,300), followed by Engineering and Sales, showing that these departments receive higher incentives.</a:t>
            </a:r>
            <a:br>
              <a:rPr lang="en-US" sz="2000" dirty="0"/>
            </a:br>
            <a:r>
              <a:rPr lang="en-US" sz="2000" dirty="0"/>
              <a:t>HR has the lowest average bonus (8,171), indicating lower bonus distribution.</a:t>
            </a:r>
            <a:endParaRPr lang="en-IN" sz="2000" b="1" dirty="0"/>
          </a:p>
          <a:p>
            <a:pPr>
              <a:lnSpc>
                <a:spcPct val="150000"/>
              </a:lnSpc>
            </a:pPr>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p:txBody>
      </p:sp>
      <p:pic>
        <p:nvPicPr>
          <p:cNvPr id="5" name="Picture 4">
            <a:extLst>
              <a:ext uri="{FF2B5EF4-FFF2-40B4-BE49-F238E27FC236}">
                <a16:creationId xmlns:a16="http://schemas.microsoft.com/office/drawing/2014/main" id="{7FD8DA30-E176-B165-07BF-60A86550D333}"/>
              </a:ext>
            </a:extLst>
          </p:cNvPr>
          <p:cNvPicPr>
            <a:picLocks noChangeAspect="1"/>
          </p:cNvPicPr>
          <p:nvPr/>
        </p:nvPicPr>
        <p:blipFill>
          <a:blip r:embed="rId2"/>
          <a:stretch>
            <a:fillRect/>
          </a:stretch>
        </p:blipFill>
        <p:spPr>
          <a:xfrm>
            <a:off x="1139110" y="1002839"/>
            <a:ext cx="5687219" cy="2048161"/>
          </a:xfrm>
          <a:prstGeom prst="rect">
            <a:avLst/>
          </a:prstGeom>
        </p:spPr>
      </p:pic>
      <p:pic>
        <p:nvPicPr>
          <p:cNvPr id="7" name="Picture 6">
            <a:extLst>
              <a:ext uri="{FF2B5EF4-FFF2-40B4-BE49-F238E27FC236}">
                <a16:creationId xmlns:a16="http://schemas.microsoft.com/office/drawing/2014/main" id="{D41B833D-8520-4691-670C-E510F3BC4944}"/>
              </a:ext>
            </a:extLst>
          </p:cNvPr>
          <p:cNvPicPr>
            <a:picLocks noChangeAspect="1"/>
          </p:cNvPicPr>
          <p:nvPr/>
        </p:nvPicPr>
        <p:blipFill>
          <a:blip r:embed="rId3"/>
          <a:stretch>
            <a:fillRect/>
          </a:stretch>
        </p:blipFill>
        <p:spPr>
          <a:xfrm>
            <a:off x="7959951" y="1002839"/>
            <a:ext cx="3092939" cy="2855120"/>
          </a:xfrm>
          <a:prstGeom prst="rect">
            <a:avLst/>
          </a:prstGeom>
        </p:spPr>
      </p:pic>
    </p:spTree>
    <p:extLst>
      <p:ext uri="{BB962C8B-B14F-4D97-AF65-F5344CB8AC3E}">
        <p14:creationId xmlns:p14="http://schemas.microsoft.com/office/powerpoint/2010/main" val="14561314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80E3D92-DED9-A5E1-D65D-E4310CE7346E}"/>
              </a:ext>
            </a:extLst>
          </p:cNvPr>
          <p:cNvSpPr txBox="1"/>
          <p:nvPr/>
        </p:nvSpPr>
        <p:spPr>
          <a:xfrm>
            <a:off x="843280" y="460792"/>
            <a:ext cx="10546080" cy="7478970"/>
          </a:xfrm>
          <a:prstGeom prst="rect">
            <a:avLst/>
          </a:prstGeom>
          <a:noFill/>
        </p:spPr>
        <p:txBody>
          <a:bodyPr wrap="square">
            <a:spAutoFit/>
          </a:bodyPr>
          <a:lstStyle/>
          <a:p>
            <a:r>
              <a:rPr lang="en-IN" sz="2000" b="1" dirty="0"/>
              <a:t>3. Which department receives the highest total bonuses?                Output:</a:t>
            </a:r>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pPr>
              <a:lnSpc>
                <a:spcPct val="150000"/>
              </a:lnSpc>
            </a:pPr>
            <a:r>
              <a:rPr lang="en-IN" sz="2000" b="1" dirty="0"/>
              <a:t>Observation: </a:t>
            </a:r>
            <a:r>
              <a:rPr lang="en-US" sz="2000" dirty="0"/>
              <a:t>The Finance department receives the highest total bonus of 96,000, which shows that more incentives are given in this department.</a:t>
            </a:r>
            <a:br>
              <a:rPr lang="en-US" sz="2000" dirty="0"/>
            </a:br>
            <a:r>
              <a:rPr lang="en-US" sz="2000" dirty="0"/>
              <a:t>This may be because it has more employees or higher salary roles.</a:t>
            </a:r>
            <a:br>
              <a:rPr lang="en-US" sz="2000" dirty="0"/>
            </a:br>
            <a:r>
              <a:rPr lang="en-US" sz="2000" dirty="0"/>
              <a:t>It indicates that Finance plays an important role in the organization</a:t>
            </a:r>
            <a:endParaRPr lang="en-IN" sz="2000" b="1" dirty="0"/>
          </a:p>
          <a:p>
            <a:endParaRPr lang="en-IN" sz="2000" b="1" dirty="0"/>
          </a:p>
          <a:p>
            <a:endParaRPr lang="en-IN" sz="2000" b="1" dirty="0"/>
          </a:p>
          <a:p>
            <a:endParaRPr lang="en-IN" sz="2000" b="1" dirty="0"/>
          </a:p>
          <a:p>
            <a:endParaRPr lang="en-IN" sz="2000" b="1" dirty="0"/>
          </a:p>
          <a:p>
            <a:endParaRPr lang="en-IN" sz="2000" b="1" dirty="0"/>
          </a:p>
        </p:txBody>
      </p:sp>
      <p:pic>
        <p:nvPicPr>
          <p:cNvPr id="5" name="Picture 4">
            <a:extLst>
              <a:ext uri="{FF2B5EF4-FFF2-40B4-BE49-F238E27FC236}">
                <a16:creationId xmlns:a16="http://schemas.microsoft.com/office/drawing/2014/main" id="{5697C1C6-0408-FB21-61BD-48BD0E3B49C8}"/>
              </a:ext>
            </a:extLst>
          </p:cNvPr>
          <p:cNvPicPr>
            <a:picLocks noChangeAspect="1"/>
          </p:cNvPicPr>
          <p:nvPr/>
        </p:nvPicPr>
        <p:blipFill>
          <a:blip r:embed="rId2"/>
          <a:stretch>
            <a:fillRect/>
          </a:stretch>
        </p:blipFill>
        <p:spPr>
          <a:xfrm>
            <a:off x="1447100" y="1160594"/>
            <a:ext cx="5477639" cy="2667372"/>
          </a:xfrm>
          <a:prstGeom prst="rect">
            <a:avLst/>
          </a:prstGeom>
        </p:spPr>
      </p:pic>
      <p:pic>
        <p:nvPicPr>
          <p:cNvPr id="7" name="Picture 6">
            <a:extLst>
              <a:ext uri="{FF2B5EF4-FFF2-40B4-BE49-F238E27FC236}">
                <a16:creationId xmlns:a16="http://schemas.microsoft.com/office/drawing/2014/main" id="{6D6F710A-B78E-5F90-42B0-1731017A953F}"/>
              </a:ext>
            </a:extLst>
          </p:cNvPr>
          <p:cNvPicPr>
            <a:picLocks noChangeAspect="1"/>
          </p:cNvPicPr>
          <p:nvPr/>
        </p:nvPicPr>
        <p:blipFill>
          <a:blip r:embed="rId3"/>
          <a:stretch>
            <a:fillRect/>
          </a:stretch>
        </p:blipFill>
        <p:spPr>
          <a:xfrm>
            <a:off x="8006081" y="1160594"/>
            <a:ext cx="3342640" cy="1552126"/>
          </a:xfrm>
          <a:prstGeom prst="rect">
            <a:avLst/>
          </a:prstGeom>
        </p:spPr>
      </p:pic>
    </p:spTree>
    <p:extLst>
      <p:ext uri="{BB962C8B-B14F-4D97-AF65-F5344CB8AC3E}">
        <p14:creationId xmlns:p14="http://schemas.microsoft.com/office/powerpoint/2010/main" val="12356058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AC79353-006F-8575-4A71-E5488A9AEEE8}"/>
              </a:ext>
            </a:extLst>
          </p:cNvPr>
          <p:cNvPicPr>
            <a:picLocks noChangeAspect="1"/>
          </p:cNvPicPr>
          <p:nvPr/>
        </p:nvPicPr>
        <p:blipFill>
          <a:blip r:embed="rId2"/>
          <a:stretch>
            <a:fillRect/>
          </a:stretch>
        </p:blipFill>
        <p:spPr>
          <a:xfrm>
            <a:off x="1065741" y="1303595"/>
            <a:ext cx="6077798" cy="857370"/>
          </a:xfrm>
          <a:prstGeom prst="rect">
            <a:avLst/>
          </a:prstGeom>
        </p:spPr>
      </p:pic>
      <p:sp>
        <p:nvSpPr>
          <p:cNvPr id="5" name="TextBox 4">
            <a:extLst>
              <a:ext uri="{FF2B5EF4-FFF2-40B4-BE49-F238E27FC236}">
                <a16:creationId xmlns:a16="http://schemas.microsoft.com/office/drawing/2014/main" id="{2AF768B5-BEEE-27DA-BD08-C8E74370D15A}"/>
              </a:ext>
            </a:extLst>
          </p:cNvPr>
          <p:cNvSpPr txBox="1"/>
          <p:nvPr/>
        </p:nvSpPr>
        <p:spPr>
          <a:xfrm>
            <a:off x="751840" y="596910"/>
            <a:ext cx="10038080" cy="7171194"/>
          </a:xfrm>
          <a:prstGeom prst="rect">
            <a:avLst/>
          </a:prstGeom>
          <a:noFill/>
        </p:spPr>
        <p:txBody>
          <a:bodyPr wrap="square">
            <a:spAutoFit/>
          </a:bodyPr>
          <a:lstStyle/>
          <a:p>
            <a:r>
              <a:rPr lang="en-IN" sz="2000" b="1" dirty="0"/>
              <a:t> 4. What is the average value of total amount after considering leave deductions?</a:t>
            </a:r>
          </a:p>
          <a:p>
            <a:endParaRPr lang="en-IN" sz="2000" b="1" dirty="0"/>
          </a:p>
          <a:p>
            <a:endParaRPr lang="en-IN" sz="2000" b="1" dirty="0"/>
          </a:p>
          <a:p>
            <a:endParaRPr lang="en-IN" sz="2000" b="1" dirty="0"/>
          </a:p>
          <a:p>
            <a:endParaRPr lang="en-IN" sz="2000" b="1" dirty="0"/>
          </a:p>
          <a:p>
            <a:endParaRPr lang="en-IN" sz="2000" b="1" dirty="0"/>
          </a:p>
          <a:p>
            <a:r>
              <a:rPr lang="en-IN" sz="2000" b="1" dirty="0"/>
              <a:t>Output:</a:t>
            </a:r>
          </a:p>
          <a:p>
            <a:endParaRPr lang="en-IN" sz="2000" b="1" dirty="0"/>
          </a:p>
          <a:p>
            <a:endParaRPr lang="en-IN" sz="2000" b="1" dirty="0"/>
          </a:p>
          <a:p>
            <a:endParaRPr lang="en-IN" sz="2000" b="1" dirty="0"/>
          </a:p>
          <a:p>
            <a:endParaRPr lang="en-IN" sz="2000" b="1" dirty="0"/>
          </a:p>
          <a:p>
            <a:endParaRPr lang="en-IN" sz="2000" b="1" dirty="0"/>
          </a:p>
          <a:p>
            <a:pPr>
              <a:lnSpc>
                <a:spcPct val="150000"/>
              </a:lnSpc>
            </a:pPr>
            <a:r>
              <a:rPr lang="en-IN" sz="2000" b="1" dirty="0"/>
              <a:t>Observation: </a:t>
            </a:r>
            <a:r>
              <a:rPr lang="en-US" sz="2000" dirty="0"/>
              <a:t>The average payroll after deductions is 46,300, indicating the average net salary received by employees.</a:t>
            </a:r>
            <a:br>
              <a:rPr lang="en-US" sz="2000" dirty="0"/>
            </a:br>
            <a:r>
              <a:rPr lang="en-US" sz="2000" dirty="0"/>
              <a:t>Since leave counts are similar, deductions have minimal impact on salary.</a:t>
            </a:r>
            <a:br>
              <a:rPr lang="en-US" sz="2000" dirty="0"/>
            </a:br>
            <a:r>
              <a:rPr lang="en-US" sz="2000" dirty="0"/>
              <a:t>This shows a stable and consistent payroll system.</a:t>
            </a:r>
            <a:endParaRPr lang="en-IN" sz="2000" b="1" dirty="0"/>
          </a:p>
          <a:p>
            <a:endParaRPr lang="en-IN" sz="2000" b="1" dirty="0"/>
          </a:p>
          <a:p>
            <a:endParaRPr lang="en-IN" sz="2000" b="1" dirty="0"/>
          </a:p>
          <a:p>
            <a:endParaRPr lang="en-IN" sz="2000" b="1" dirty="0"/>
          </a:p>
          <a:p>
            <a:endParaRPr lang="en-IN" sz="2000" b="1" dirty="0"/>
          </a:p>
          <a:p>
            <a:endParaRPr lang="en-IN" sz="2000" b="1" dirty="0"/>
          </a:p>
        </p:txBody>
      </p:sp>
      <p:pic>
        <p:nvPicPr>
          <p:cNvPr id="7" name="Picture 6">
            <a:extLst>
              <a:ext uri="{FF2B5EF4-FFF2-40B4-BE49-F238E27FC236}">
                <a16:creationId xmlns:a16="http://schemas.microsoft.com/office/drawing/2014/main" id="{F65D6A84-FCE9-1A5C-1A80-66618FCF98D9}"/>
              </a:ext>
            </a:extLst>
          </p:cNvPr>
          <p:cNvPicPr>
            <a:picLocks noChangeAspect="1"/>
          </p:cNvPicPr>
          <p:nvPr/>
        </p:nvPicPr>
        <p:blipFill>
          <a:blip r:embed="rId3"/>
          <a:stretch>
            <a:fillRect/>
          </a:stretch>
        </p:blipFill>
        <p:spPr>
          <a:xfrm>
            <a:off x="991359" y="3090039"/>
            <a:ext cx="2772162" cy="1105054"/>
          </a:xfrm>
          <a:prstGeom prst="rect">
            <a:avLst/>
          </a:prstGeom>
        </p:spPr>
      </p:pic>
    </p:spTree>
    <p:extLst>
      <p:ext uri="{BB962C8B-B14F-4D97-AF65-F5344CB8AC3E}">
        <p14:creationId xmlns:p14="http://schemas.microsoft.com/office/powerpoint/2010/main" val="35745589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FEC5EB5-F2B8-8837-06A6-E6EE90CC1A7A}"/>
              </a:ext>
            </a:extLst>
          </p:cNvPr>
          <p:cNvSpPr txBox="1"/>
          <p:nvPr/>
        </p:nvSpPr>
        <p:spPr>
          <a:xfrm>
            <a:off x="843280" y="440472"/>
            <a:ext cx="10342880" cy="5944641"/>
          </a:xfrm>
          <a:prstGeom prst="rect">
            <a:avLst/>
          </a:prstGeom>
          <a:noFill/>
        </p:spPr>
        <p:txBody>
          <a:bodyPr wrap="square">
            <a:spAutoFit/>
          </a:bodyPr>
          <a:lstStyle/>
          <a:p>
            <a:r>
              <a:rPr lang="en-US" sz="2400" dirty="0">
                <a:solidFill>
                  <a:srgbClr val="FF0000"/>
                </a:solidFill>
              </a:rPr>
              <a:t>Conclusion</a:t>
            </a:r>
          </a:p>
          <a:p>
            <a:pPr>
              <a:lnSpc>
                <a:spcPct val="150000"/>
              </a:lnSpc>
            </a:pPr>
            <a:r>
              <a:rPr lang="en-US" sz="2000" dirty="0"/>
              <a:t>	</a:t>
            </a:r>
          </a:p>
          <a:p>
            <a:pPr>
              <a:lnSpc>
                <a:spcPct val="150000"/>
              </a:lnSpc>
            </a:pPr>
            <a:r>
              <a:rPr lang="en-US" sz="2000" dirty="0"/>
              <a:t>	 From this project, we can understand that the company has 60 employees, and most of them are working in IT and Finance departments, so these departments are more important in the organization. The salary in all departments is almost similar, but a few employees are getting higher salaries because of their roles or experience.</a:t>
            </a:r>
          </a:p>
          <a:p>
            <a:pPr>
              <a:lnSpc>
                <a:spcPct val="150000"/>
              </a:lnSpc>
            </a:pPr>
            <a:r>
              <a:rPr lang="en-US" sz="2000" dirty="0"/>
              <a:t>     The leave analysis shows that most employees are taking a similar number of leaves, so there is not much difference between employees. Because of this, the payroll and bonus system is also stable and consistent across the company.</a:t>
            </a:r>
          </a:p>
          <a:p>
            <a:pPr>
              <a:lnSpc>
                <a:spcPct val="150000"/>
              </a:lnSpc>
            </a:pPr>
            <a:r>
              <a:rPr lang="en-US" sz="2000" dirty="0"/>
              <a:t>      Overall, this project shows that employee data is well organized, and by using SQL queries, we can easily understand important details like salary, leaves, and performance. These insights can help the company make better decisions and improve their work in the future.</a:t>
            </a:r>
          </a:p>
        </p:txBody>
      </p:sp>
    </p:spTree>
    <p:extLst>
      <p:ext uri="{BB962C8B-B14F-4D97-AF65-F5344CB8AC3E}">
        <p14:creationId xmlns:p14="http://schemas.microsoft.com/office/powerpoint/2010/main" val="10797556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627FD53-4BDA-215F-4819-C3D182C985D4}"/>
              </a:ext>
            </a:extLst>
          </p:cNvPr>
          <p:cNvSpPr txBox="1"/>
          <p:nvPr/>
        </p:nvSpPr>
        <p:spPr>
          <a:xfrm>
            <a:off x="855406" y="519902"/>
            <a:ext cx="10412361" cy="6129307"/>
          </a:xfrm>
          <a:prstGeom prst="rect">
            <a:avLst/>
          </a:prstGeom>
          <a:noFill/>
        </p:spPr>
        <p:txBody>
          <a:bodyPr wrap="square">
            <a:spAutoFit/>
          </a:bodyPr>
          <a:lstStyle/>
          <a:p>
            <a:pPr>
              <a:lnSpc>
                <a:spcPct val="150000"/>
              </a:lnSpc>
              <a:buNone/>
            </a:pPr>
            <a:r>
              <a:rPr lang="en-IN" sz="2400" b="1" dirty="0">
                <a:solidFill>
                  <a:srgbClr val="FF0000"/>
                </a:solidFill>
              </a:rPr>
              <a:t>Experience/Challenges working</a:t>
            </a:r>
            <a:endParaRPr lang="en-US" sz="2400" dirty="0">
              <a:solidFill>
                <a:srgbClr val="FF0000"/>
              </a:solidFill>
            </a:endParaRPr>
          </a:p>
          <a:p>
            <a:pPr>
              <a:lnSpc>
                <a:spcPct val="150000"/>
              </a:lnSpc>
              <a:buNone/>
            </a:pPr>
            <a:r>
              <a:rPr lang="en-US" sz="2000" dirty="0"/>
              <a:t>     During this project, I learned how to design a database and manage data using SQL. I understood how different tables are connected using primary keys and foreign keys, and how to use joins to combine data from multiple tables.</a:t>
            </a:r>
          </a:p>
          <a:p>
            <a:pPr>
              <a:lnSpc>
                <a:spcPct val="150000"/>
              </a:lnSpc>
              <a:buNone/>
            </a:pPr>
            <a:endParaRPr lang="en-US" sz="2000" dirty="0"/>
          </a:p>
          <a:p>
            <a:pPr>
              <a:lnSpc>
                <a:spcPct val="150000"/>
              </a:lnSpc>
              <a:buNone/>
            </a:pPr>
            <a:r>
              <a:rPr lang="en-US" sz="2000" dirty="0"/>
              <a:t>     One of the main challenges I faced was writing complex queries, especially using GROUP BY, JOINs, and subqueries. Sometimes I was getting unexpected results, and I had to carefully check the data and understand the logic behind each query.</a:t>
            </a:r>
          </a:p>
          <a:p>
            <a:pPr>
              <a:lnSpc>
                <a:spcPct val="150000"/>
              </a:lnSpc>
              <a:buNone/>
            </a:pPr>
            <a:endParaRPr lang="en-US" sz="2000" dirty="0"/>
          </a:p>
          <a:p>
            <a:pPr>
              <a:lnSpc>
                <a:spcPct val="150000"/>
              </a:lnSpc>
              <a:buNone/>
            </a:pPr>
            <a:r>
              <a:rPr lang="en-US" sz="2000" dirty="0"/>
              <a:t>     I also faced difficulty in understanding how to calculate values like average leaves and payroll correctly, but by practicing and testing queries, I was able to solve them. Overall, this project helped me improve my SQL skills and gave me a better understanding of how data is used in real-world applications.</a:t>
            </a:r>
          </a:p>
        </p:txBody>
      </p:sp>
    </p:spTree>
    <p:extLst>
      <p:ext uri="{BB962C8B-B14F-4D97-AF65-F5344CB8AC3E}">
        <p14:creationId xmlns:p14="http://schemas.microsoft.com/office/powerpoint/2010/main" val="38791780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323</TotalTime>
  <Words>1606</Words>
  <Application>Microsoft Office PowerPoint</Application>
  <PresentationFormat>Widescreen</PresentationFormat>
  <Paragraphs>373</Paragraphs>
  <Slides>27</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Calibri</vt:lpstr>
      <vt:lpstr>Arial Narrow</vt:lpstr>
      <vt:lpstr>Arial</vt:lpstr>
      <vt:lpstr>Lato Black</vt:lpstr>
      <vt:lpstr>Libre Baskerville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peddollaharika@outlook.com</cp:lastModifiedBy>
  <cp:revision>6</cp:revision>
  <dcterms:created xsi:type="dcterms:W3CDTF">2021-02-16T05:19:01Z</dcterms:created>
  <dcterms:modified xsi:type="dcterms:W3CDTF">2026-05-10T16:25:12Z</dcterms:modified>
</cp:coreProperties>
</file>